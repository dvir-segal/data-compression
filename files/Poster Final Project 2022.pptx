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8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>
        <p:scale>
          <a:sx n="100" d="100"/>
          <a:sy n="100" d="100"/>
        </p:scale>
        <p:origin x="255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49770"/>
            <a:ext cx="5829300" cy="350955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94662"/>
            <a:ext cx="5143500" cy="243381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1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0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513159"/>
            <a:ext cx="5915025" cy="419325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746088"/>
            <a:ext cx="5915025" cy="220513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25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386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36702"/>
            <a:ext cx="5915025" cy="1948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71154"/>
            <a:ext cx="2901255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82228"/>
            <a:ext cx="2901255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71154"/>
            <a:ext cx="2915543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82228"/>
            <a:ext cx="291554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55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8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15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51426"/>
            <a:ext cx="3471863" cy="716377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21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51426"/>
            <a:ext cx="3471863" cy="716377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6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523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36700"/>
            <a:ext cx="1478756" cy="85428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36700"/>
            <a:ext cx="4350544" cy="85428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36702"/>
            <a:ext cx="5915025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83500"/>
            <a:ext cx="5915025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343248"/>
            <a:ext cx="2314575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3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" y="0"/>
            <a:ext cx="6857999" cy="1283747"/>
          </a:xfr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defTabSz="951583"/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      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Data Compression – </a:t>
            </a:r>
            <a:r>
              <a:rPr lang="en-US" b="1" dirty="0">
                <a:solidFill>
                  <a:schemeClr val="tx1"/>
                </a:solidFill>
                <a:latin typeface="Calibri"/>
                <a:cs typeface="Arial"/>
              </a:rPr>
              <a:t>Comparing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900" b="1" dirty="0" err="1">
                <a:solidFill>
                  <a:schemeClr val="tx1"/>
                </a:solidFill>
                <a:latin typeface="Calibri"/>
                <a:cs typeface="Arial"/>
              </a:rPr>
              <a:t>Haar’s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Algorithms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en-US" sz="1307" b="1" dirty="0">
              <a:solidFill>
                <a:schemeClr val="tx1"/>
              </a:solidFill>
              <a:latin typeface="Calibri"/>
              <a:cs typeface="Arial"/>
            </a:endParaRPr>
          </a:p>
          <a:p>
            <a:pPr defTabSz="951583"/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Presenters: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Liel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Berniker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Noy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Osi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Dvir Segal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Instructor: Prof. Dana Shapira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1307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44880" y="5002000"/>
            <a:ext cx="184730" cy="17376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490" dirty="0"/>
          </a:p>
        </p:txBody>
      </p:sp>
      <p:sp>
        <p:nvSpPr>
          <p:cNvPr id="12" name="Rounded Rectangle 6"/>
          <p:cNvSpPr/>
          <p:nvPr/>
        </p:nvSpPr>
        <p:spPr>
          <a:xfrm>
            <a:off x="3554669" y="1306525"/>
            <a:ext cx="3230880" cy="2154928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121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</a:t>
            </a: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Introduction</a:t>
            </a:r>
            <a:r>
              <a:rPr lang="en-US" sz="14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</a:t>
            </a:r>
            <a:endParaRPr lang="en-US" sz="125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Data compression is the process of encoding, restructuring, or otherwise modifying data in order to reduce its size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our </a:t>
            </a:r>
            <a:r>
              <a:rPr lang="en-US" sz="105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Data compression 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research, we specified the Haar wavelet transform, which is a simple discrete transform.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 compare the compression performance of two main Haar algorithms applied for lossless compression of integer sequences.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Integer 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 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New Transform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82404" y="3191636"/>
            <a:ext cx="2929204" cy="2517852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1200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1200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Methods and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Selected Approach </a:t>
            </a: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method to compare the efficiency of the  algorithms was to measure the bit size compressed </a:t>
            </a:r>
            <a:r>
              <a:rPr lang="he-IL" sz="11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message. </a:t>
            </a: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endParaRPr lang="en-US" sz="1000" b="0" i="0" dirty="0"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br>
              <a:rPr lang="en-US" sz="10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lang="en-US" sz="1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All the implementations were made in C++ </a:t>
            </a:r>
            <a:endParaRPr lang="en-US" sz="1000" b="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0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000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1000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1000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10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3141382" y="3681209"/>
            <a:ext cx="3686927" cy="2154928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</a:t>
            </a:r>
            <a:r>
              <a:rPr lang="en-US" sz="1100" b="0" i="1" u="sng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Integer </a:t>
            </a:r>
            <a:r>
              <a:rPr lang="en-US" sz="1100" b="0" i="0" u="sng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 </a:t>
            </a:r>
            <a:r>
              <a:rPr lang="en-US" sz="1100" b="0" i="1" u="sng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New Transform pseudo codes</a:t>
            </a:r>
            <a:r>
              <a:rPr lang="en-US" sz="11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 </a:t>
            </a:r>
            <a:b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endParaRPr lang="en-US" sz="120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99292" y="6006504"/>
            <a:ext cx="6703145" cy="3943348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Solution Description (Algorithms, Modulation, Patterns, Infrastructure,   </a:t>
            </a:r>
            <a:b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    Functionality)</a:t>
            </a:r>
            <a:endParaRPr lang="he-IL" sz="120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95404" y="9276783"/>
            <a:ext cx="750659" cy="209609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762" dirty="0">
                <a:latin typeface="Arial" pitchFamily="34" charset="0"/>
                <a:cs typeface="Arial" pitchFamily="34" charset="0"/>
              </a:rPr>
              <a:t>Visit Us</a:t>
            </a:r>
            <a:endParaRPr lang="he-IL" sz="762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3141383" y="1911601"/>
            <a:ext cx="397983" cy="24173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2877095" y="3135956"/>
            <a:ext cx="677573" cy="3368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 dirty="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6200000">
            <a:off x="4773800" y="3429134"/>
            <a:ext cx="200287" cy="2604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1211580" y="5709488"/>
            <a:ext cx="374849" cy="29701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121537" y="1375549"/>
            <a:ext cx="3004541" cy="1692730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1400" u="sng" dirty="0">
                <a:latin typeface="Arial" panose="020B0604020202020204" pitchFamily="34" charset="0"/>
                <a:cs typeface="Arial" panose="020B0604020202020204" pitchFamily="34" charset="0"/>
              </a:rPr>
              <a:t>project goal:  </a:t>
            </a:r>
          </a:p>
          <a:p>
            <a:pPr>
              <a:defRPr/>
            </a:pPr>
            <a:r>
              <a:rPr lang="en-US" sz="12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Analyze and compare different  algorithms presented in the paper </a:t>
            </a:r>
            <a:r>
              <a:rPr lang="en-US" sz="125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“New Compression Schemes for Natural Number Sequences” ,</a:t>
            </a:r>
            <a:r>
              <a:rPr lang="en-US" sz="12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that use the Haar transform for data compression. </a:t>
            </a:r>
            <a:endParaRPr lang="en-US" sz="125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5331699" y="9669471"/>
            <a:ext cx="4372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5940055" y="240873"/>
            <a:ext cx="845495" cy="7278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1717547" y="-4645382"/>
            <a:ext cx="62858" cy="1595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dirty="0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802" y="9454826"/>
            <a:ext cx="467864" cy="467864"/>
          </a:xfrm>
          <a:prstGeom prst="rect">
            <a:avLst/>
          </a:prstGeom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A6E5B8EA-65D1-9B0F-5F4E-ADB541E0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486" y="4191126"/>
            <a:ext cx="1912862" cy="1469906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7670314-2C54-21E1-3D5F-EECD027606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3643" y="4188912"/>
            <a:ext cx="1851906" cy="1450419"/>
          </a:xfrm>
          <a:prstGeom prst="rect">
            <a:avLst/>
          </a:prstGeom>
        </p:spPr>
      </p:pic>
      <p:sp>
        <p:nvSpPr>
          <p:cNvPr id="27" name="מלבן 26">
            <a:extLst>
              <a:ext uri="{FF2B5EF4-FFF2-40B4-BE49-F238E27FC236}">
                <a16:creationId xmlns:a16="http://schemas.microsoft.com/office/drawing/2014/main" id="{FBE142B5-9FA1-A490-362F-2DCE6F1DC1C7}"/>
              </a:ext>
            </a:extLst>
          </p:cNvPr>
          <p:cNvSpPr/>
          <p:nvPr/>
        </p:nvSpPr>
        <p:spPr>
          <a:xfrm>
            <a:off x="2611788" y="9565287"/>
            <a:ext cx="2670402" cy="20836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6790A299-C0EF-1437-C729-6EA6F571CDC8}"/>
              </a:ext>
            </a:extLst>
          </p:cNvPr>
          <p:cNvSpPr txBox="1"/>
          <p:nvPr/>
        </p:nvSpPr>
        <p:spPr>
          <a:xfrm>
            <a:off x="2603290" y="9542513"/>
            <a:ext cx="268739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1050" dirty="0"/>
              <a:t>Scan </a:t>
            </a:r>
            <a:r>
              <a:rPr lang="en-US" sz="1050" dirty="0" err="1"/>
              <a:t>QRCode</a:t>
            </a:r>
            <a:r>
              <a:rPr lang="en-US" sz="1050" dirty="0"/>
              <a:t> for full Instructions(</a:t>
            </a:r>
            <a:r>
              <a:rPr lang="en-US" sz="1050" dirty="0" err="1"/>
              <a:t>github</a:t>
            </a:r>
            <a:r>
              <a:rPr lang="en-US" sz="1050" dirty="0"/>
              <a:t>)</a:t>
            </a:r>
          </a:p>
        </p:txBody>
      </p:sp>
      <p:pic>
        <p:nvPicPr>
          <p:cNvPr id="31" name="תמונה 30">
            <a:extLst>
              <a:ext uri="{FF2B5EF4-FFF2-40B4-BE49-F238E27FC236}">
                <a16:creationId xmlns:a16="http://schemas.microsoft.com/office/drawing/2014/main" id="{E47411B7-9390-F743-2C58-728A9F442C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67"/>
            <a:ext cx="1211580" cy="680080"/>
          </a:xfrm>
          <a:prstGeom prst="rect">
            <a:avLst/>
          </a:prstGeom>
        </p:spPr>
      </p:pic>
      <p:graphicFrame>
        <p:nvGraphicFramePr>
          <p:cNvPr id="4" name="טבלה 3">
            <a:extLst>
              <a:ext uri="{FF2B5EF4-FFF2-40B4-BE49-F238E27FC236}">
                <a16:creationId xmlns:a16="http://schemas.microsoft.com/office/drawing/2014/main" id="{BFB8E754-438B-1640-27C4-B36173B30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272764"/>
              </p:ext>
            </p:extLst>
          </p:nvPr>
        </p:nvGraphicFramePr>
        <p:xfrm>
          <a:off x="166597" y="4124487"/>
          <a:ext cx="2817788" cy="100767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80185">
                  <a:extLst>
                    <a:ext uri="{9D8B030D-6E8A-4147-A177-3AD203B41FA5}">
                      <a16:colId xmlns:a16="http://schemas.microsoft.com/office/drawing/2014/main" val="399169425"/>
                    </a:ext>
                  </a:extLst>
                </a:gridCol>
                <a:gridCol w="1637603">
                  <a:extLst>
                    <a:ext uri="{9D8B030D-6E8A-4147-A177-3AD203B41FA5}">
                      <a16:colId xmlns:a16="http://schemas.microsoft.com/office/drawing/2014/main" val="2319214804"/>
                    </a:ext>
                  </a:extLst>
                </a:gridCol>
              </a:tblGrid>
              <a:tr h="29806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Algorithms: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compression algorithms :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4764049"/>
                  </a:ext>
                </a:extLst>
              </a:tr>
              <a:tr h="14566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Haar integer 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 *Elias code 𝑪𝜹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* binary coding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* unary coding.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07286652"/>
                  </a:ext>
                </a:extLst>
              </a:tr>
              <a:tr h="45721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u="none" dirty="0">
                          <a:effectLst/>
                        </a:rPr>
                        <a:t>Haar New Transform</a:t>
                      </a:r>
                      <a:endParaRPr lang="en-US" sz="1100" u="none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727031"/>
                  </a:ext>
                </a:extLst>
              </a:tr>
            </a:tbl>
          </a:graphicData>
        </a:graphic>
      </p:graphicFrame>
      <p:pic>
        <p:nvPicPr>
          <p:cNvPr id="9" name="תמונה 8">
            <a:extLst>
              <a:ext uri="{FF2B5EF4-FFF2-40B4-BE49-F238E27FC236}">
                <a16:creationId xmlns:a16="http://schemas.microsoft.com/office/drawing/2014/main" id="{390C8447-A05E-F164-7728-C7F00286A4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143" y="7150526"/>
            <a:ext cx="1475463" cy="118787"/>
          </a:xfrm>
          <a:prstGeom prst="rect">
            <a:avLst/>
          </a:prstGeom>
        </p:spPr>
      </p:pic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AA55D936-FF51-0410-300D-75A20C5E0F9E}"/>
              </a:ext>
            </a:extLst>
          </p:cNvPr>
          <p:cNvSpPr txBox="1"/>
          <p:nvPr/>
        </p:nvSpPr>
        <p:spPr>
          <a:xfrm>
            <a:off x="437143" y="7136618"/>
            <a:ext cx="1457302" cy="1542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78B7112A-AD3B-5275-1104-014E5B0E79DC}"/>
              </a:ext>
            </a:extLst>
          </p:cNvPr>
          <p:cNvSpPr/>
          <p:nvPr/>
        </p:nvSpPr>
        <p:spPr>
          <a:xfrm>
            <a:off x="1980540" y="7176078"/>
            <a:ext cx="639316" cy="1453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תמונה 21">
            <a:extLst>
              <a:ext uri="{FF2B5EF4-FFF2-40B4-BE49-F238E27FC236}">
                <a16:creationId xmlns:a16="http://schemas.microsoft.com/office/drawing/2014/main" id="{7C265335-37B6-A439-6B94-3DA6125056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8184" y="6876847"/>
            <a:ext cx="1976233" cy="660155"/>
          </a:xfrm>
          <a:prstGeom prst="rect">
            <a:avLst/>
          </a:prstGeom>
        </p:spPr>
      </p:pic>
      <p:pic>
        <p:nvPicPr>
          <p:cNvPr id="30" name="תמונה 29">
            <a:extLst>
              <a:ext uri="{FF2B5EF4-FFF2-40B4-BE49-F238E27FC236}">
                <a16:creationId xmlns:a16="http://schemas.microsoft.com/office/drawing/2014/main" id="{81E1AD87-4853-2C35-94C6-577ADCF1C4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9131" y="6869799"/>
            <a:ext cx="2052546" cy="689968"/>
          </a:xfrm>
          <a:prstGeom prst="rect">
            <a:avLst/>
          </a:prstGeom>
        </p:spPr>
      </p:pic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4501819F-64CC-D255-47C5-F30C52F64D57}"/>
              </a:ext>
            </a:extLst>
          </p:cNvPr>
          <p:cNvSpPr txBox="1"/>
          <p:nvPr/>
        </p:nvSpPr>
        <p:spPr>
          <a:xfrm>
            <a:off x="4676008" y="6742710"/>
            <a:ext cx="9882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Haar</a:t>
            </a:r>
            <a:r>
              <a:rPr lang="en-US" sz="600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 New Transform</a:t>
            </a:r>
            <a:r>
              <a:rPr lang="en-US" sz="600" b="1" i="0" strike="noStrike" baseline="0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600" b="1" dirty="0">
              <a:solidFill>
                <a:schemeClr val="accent1"/>
              </a:solidFill>
            </a:endParaRP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05618B04-D8F7-8709-5260-01218EE688D4}"/>
              </a:ext>
            </a:extLst>
          </p:cNvPr>
          <p:cNvSpPr txBox="1"/>
          <p:nvPr/>
        </p:nvSpPr>
        <p:spPr>
          <a:xfrm>
            <a:off x="2648072" y="6730587"/>
            <a:ext cx="6960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0" strike="noStrike" baseline="0" dirty="0">
                <a:solidFill>
                  <a:schemeClr val="accent1"/>
                </a:solidFill>
                <a:latin typeface="SFSL1095"/>
              </a:rPr>
              <a:t>Integer-</a:t>
            </a:r>
            <a:r>
              <a:rPr lang="en-US" sz="600" b="1" i="0" strike="noStrike" baseline="0" dirty="0" err="1">
                <a:solidFill>
                  <a:schemeClr val="accent1"/>
                </a:solidFill>
                <a:latin typeface="SFSL1095"/>
              </a:rPr>
              <a:t>Haar</a:t>
            </a:r>
            <a:r>
              <a:rPr lang="en-US" sz="600" b="1" i="0" strike="noStrike" baseline="0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600" b="1" dirty="0">
              <a:solidFill>
                <a:schemeClr val="accent1"/>
              </a:solidFill>
            </a:endParaRPr>
          </a:p>
        </p:txBody>
      </p:sp>
      <p:sp>
        <p:nvSpPr>
          <p:cNvPr id="34" name="תיבת טקסט 33">
            <a:extLst>
              <a:ext uri="{FF2B5EF4-FFF2-40B4-BE49-F238E27FC236}">
                <a16:creationId xmlns:a16="http://schemas.microsoft.com/office/drawing/2014/main" id="{C4210229-7C1D-DB97-0619-45ADC98C5627}"/>
              </a:ext>
            </a:extLst>
          </p:cNvPr>
          <p:cNvSpPr txBox="1"/>
          <p:nvPr/>
        </p:nvSpPr>
        <p:spPr>
          <a:xfrm>
            <a:off x="2511290" y="9180722"/>
            <a:ext cx="3841829" cy="76913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9" name="תיבת טקסט 38">
            <a:extLst>
              <a:ext uri="{FF2B5EF4-FFF2-40B4-BE49-F238E27FC236}">
                <a16:creationId xmlns:a16="http://schemas.microsoft.com/office/drawing/2014/main" id="{75713DEC-AB2F-4F35-3570-1D0AC97B0784}"/>
              </a:ext>
            </a:extLst>
          </p:cNvPr>
          <p:cNvSpPr txBox="1"/>
          <p:nvPr/>
        </p:nvSpPr>
        <p:spPr>
          <a:xfrm>
            <a:off x="2682673" y="6747769"/>
            <a:ext cx="2018682" cy="7946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16715C6A-BEE1-D487-8BE5-7A98AF5BCEE5}"/>
              </a:ext>
            </a:extLst>
          </p:cNvPr>
          <p:cNvSpPr txBox="1"/>
          <p:nvPr/>
        </p:nvSpPr>
        <p:spPr>
          <a:xfrm>
            <a:off x="4713892" y="6705162"/>
            <a:ext cx="2040717" cy="8798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1" name="חץ: למטה 40">
            <a:extLst>
              <a:ext uri="{FF2B5EF4-FFF2-40B4-BE49-F238E27FC236}">
                <a16:creationId xmlns:a16="http://schemas.microsoft.com/office/drawing/2014/main" id="{3D45D43E-BA1B-F5B3-82A6-3936B3CA916A}"/>
              </a:ext>
            </a:extLst>
          </p:cNvPr>
          <p:cNvSpPr/>
          <p:nvPr/>
        </p:nvSpPr>
        <p:spPr>
          <a:xfrm>
            <a:off x="5836802" y="7663177"/>
            <a:ext cx="181975" cy="20093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תיבת טקסט 42">
            <a:extLst>
              <a:ext uri="{FF2B5EF4-FFF2-40B4-BE49-F238E27FC236}">
                <a16:creationId xmlns:a16="http://schemas.microsoft.com/office/drawing/2014/main" id="{1CEF0392-AAA6-E2A3-22D8-968F8542214B}"/>
              </a:ext>
            </a:extLst>
          </p:cNvPr>
          <p:cNvSpPr txBox="1"/>
          <p:nvPr/>
        </p:nvSpPr>
        <p:spPr>
          <a:xfrm>
            <a:off x="2642236" y="6705162"/>
            <a:ext cx="4143313" cy="92644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58" name="טבלה 57">
            <a:extLst>
              <a:ext uri="{FF2B5EF4-FFF2-40B4-BE49-F238E27FC236}">
                <a16:creationId xmlns:a16="http://schemas.microsoft.com/office/drawing/2014/main" id="{55A8135B-5488-A08D-716E-F0D0846E3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036311"/>
              </p:ext>
            </p:extLst>
          </p:nvPr>
        </p:nvGraphicFramePr>
        <p:xfrm>
          <a:off x="4255786" y="7881469"/>
          <a:ext cx="2519810" cy="8959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06299">
                  <a:extLst>
                    <a:ext uri="{9D8B030D-6E8A-4147-A177-3AD203B41FA5}">
                      <a16:colId xmlns:a16="http://schemas.microsoft.com/office/drawing/2014/main" val="4031532458"/>
                    </a:ext>
                  </a:extLst>
                </a:gridCol>
                <a:gridCol w="586096">
                  <a:extLst>
                    <a:ext uri="{9D8B030D-6E8A-4147-A177-3AD203B41FA5}">
                      <a16:colId xmlns:a16="http://schemas.microsoft.com/office/drawing/2014/main" val="1457485924"/>
                    </a:ext>
                  </a:extLst>
                </a:gridCol>
                <a:gridCol w="358140">
                  <a:extLst>
                    <a:ext uri="{9D8B030D-6E8A-4147-A177-3AD203B41FA5}">
                      <a16:colId xmlns:a16="http://schemas.microsoft.com/office/drawing/2014/main" val="1973839703"/>
                    </a:ext>
                  </a:extLst>
                </a:gridCol>
                <a:gridCol w="569275">
                  <a:extLst>
                    <a:ext uri="{9D8B030D-6E8A-4147-A177-3AD203B41FA5}">
                      <a16:colId xmlns:a16="http://schemas.microsoft.com/office/drawing/2014/main" val="1906404286"/>
                    </a:ext>
                  </a:extLst>
                </a:gridCol>
              </a:tblGrid>
              <a:tr h="38780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         </a:t>
                      </a:r>
                      <a:r>
                        <a:rPr lang="en-US" sz="500" dirty="0">
                          <a:effectLst/>
                        </a:rPr>
                        <a:t>Compression algorithm</a:t>
                      </a:r>
                    </a:p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500" dirty="0">
                          <a:effectLst/>
                        </a:rPr>
                      </a:br>
                      <a:r>
                        <a:rPr lang="en-US" sz="500" dirty="0" err="1">
                          <a:effectLst/>
                        </a:rPr>
                        <a:t>Haar</a:t>
                      </a:r>
                      <a:r>
                        <a:rPr lang="en-US" sz="500" dirty="0">
                          <a:effectLst/>
                        </a:rPr>
                        <a:t> algorithm</a:t>
                      </a:r>
                      <a:endParaRPr lang="en-US" sz="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900" dirty="0">
                          <a:effectLst/>
                        </a:rPr>
                      </a:br>
                      <a:r>
                        <a:rPr lang="en-US" sz="600" dirty="0">
                          <a:effectLst/>
                        </a:rPr>
                        <a:t>Elias code 𝑪𝜹  </a:t>
                      </a:r>
                      <a:endParaRPr lang="en-US" sz="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900" dirty="0">
                          <a:effectLst/>
                        </a:rPr>
                      </a:br>
                      <a:r>
                        <a:rPr lang="en-US" sz="600" dirty="0">
                          <a:effectLst/>
                        </a:rPr>
                        <a:t>binary coding</a:t>
                      </a:r>
                      <a:endParaRPr lang="en-US" sz="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900" dirty="0">
                          <a:effectLst/>
                        </a:rPr>
                      </a:br>
                      <a:r>
                        <a:rPr lang="en-US" sz="600" dirty="0">
                          <a:effectLst/>
                        </a:rPr>
                        <a:t>unary coding</a:t>
                      </a:r>
                      <a:endParaRPr lang="en-US" sz="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62124973"/>
                  </a:ext>
                </a:extLst>
              </a:tr>
              <a:tr h="192204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err="1">
                          <a:effectLst/>
                        </a:rPr>
                        <a:t>Haar</a:t>
                      </a:r>
                      <a:r>
                        <a:rPr lang="en-US" sz="700" dirty="0">
                          <a:effectLst/>
                        </a:rPr>
                        <a:t> integer: </a:t>
                      </a:r>
                      <a:br>
                        <a:rPr lang="en-US" sz="700" dirty="0">
                          <a:effectLst/>
                        </a:rPr>
                      </a:br>
                      <a:r>
                        <a:rPr lang="en-US" sz="700" dirty="0">
                          <a:effectLst/>
                        </a:rPr>
                        <a:t>bit size</a:t>
                      </a:r>
                      <a:endParaRPr lang="en-US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97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</a:rPr>
                        <a:t>51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2,062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079145"/>
                  </a:ext>
                </a:extLst>
              </a:tr>
              <a:tr h="284858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u="sng" dirty="0" err="1">
                          <a:effectLst/>
                        </a:rPr>
                        <a:t>Haar</a:t>
                      </a:r>
                      <a:r>
                        <a:rPr lang="en-US" sz="700" u="sng" dirty="0">
                          <a:effectLst/>
                        </a:rPr>
                        <a:t> New Transform:</a:t>
                      </a:r>
                      <a:br>
                        <a:rPr lang="en-US" sz="700" u="sng" dirty="0">
                          <a:effectLst/>
                        </a:rPr>
                      </a:br>
                      <a:r>
                        <a:rPr lang="en-US" sz="700" u="sng" dirty="0">
                          <a:effectLst/>
                        </a:rPr>
                        <a:t> bit size</a:t>
                      </a:r>
                      <a:endParaRPr lang="en-US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</a:rPr>
                        <a:t>87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</a:rPr>
                        <a:t>51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</a:rPr>
                        <a:t>14,386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7606008"/>
                  </a:ext>
                </a:extLst>
              </a:tr>
            </a:tbl>
          </a:graphicData>
        </a:graphic>
      </p:graphicFrame>
      <p:cxnSp>
        <p:nvCxnSpPr>
          <p:cNvPr id="60" name="מחבר ישר 59">
            <a:extLst>
              <a:ext uri="{FF2B5EF4-FFF2-40B4-BE49-F238E27FC236}">
                <a16:creationId xmlns:a16="http://schemas.microsoft.com/office/drawing/2014/main" id="{FE74F668-A5AE-4F02-5A51-385504CC1FC0}"/>
              </a:ext>
            </a:extLst>
          </p:cNvPr>
          <p:cNvCxnSpPr>
            <a:cxnSpLocks/>
          </p:cNvCxnSpPr>
          <p:nvPr/>
        </p:nvCxnSpPr>
        <p:spPr>
          <a:xfrm>
            <a:off x="4245833" y="7898725"/>
            <a:ext cx="1036357" cy="34520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תמונה 62">
            <a:extLst>
              <a:ext uri="{FF2B5EF4-FFF2-40B4-BE49-F238E27FC236}">
                <a16:creationId xmlns:a16="http://schemas.microsoft.com/office/drawing/2014/main" id="{AAE3EFD4-8B7A-D61D-4963-451C6AE578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485" y="7845427"/>
            <a:ext cx="1591928" cy="920384"/>
          </a:xfrm>
          <a:prstGeom prst="rect">
            <a:avLst/>
          </a:prstGeom>
        </p:spPr>
      </p:pic>
      <p:pic>
        <p:nvPicPr>
          <p:cNvPr id="65" name="תמונה 64">
            <a:extLst>
              <a:ext uri="{FF2B5EF4-FFF2-40B4-BE49-F238E27FC236}">
                <a16:creationId xmlns:a16="http://schemas.microsoft.com/office/drawing/2014/main" id="{7D6F228C-8C45-6060-E791-3920B7C7076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7674" y="8171637"/>
            <a:ext cx="1591909" cy="929012"/>
          </a:xfrm>
          <a:prstGeom prst="rect">
            <a:avLst/>
          </a:prstGeom>
        </p:spPr>
      </p:pic>
      <p:pic>
        <p:nvPicPr>
          <p:cNvPr id="67" name="תמונה 66">
            <a:extLst>
              <a:ext uri="{FF2B5EF4-FFF2-40B4-BE49-F238E27FC236}">
                <a16:creationId xmlns:a16="http://schemas.microsoft.com/office/drawing/2014/main" id="{9397ECB9-5758-A191-81B3-8B261CEE7B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6740" y="8813433"/>
            <a:ext cx="1682717" cy="1036228"/>
          </a:xfrm>
          <a:prstGeom prst="rect">
            <a:avLst/>
          </a:prstGeom>
        </p:spPr>
      </p:pic>
      <p:sp>
        <p:nvSpPr>
          <p:cNvPr id="71" name="תיבת טקסט 70">
            <a:extLst>
              <a:ext uri="{FF2B5EF4-FFF2-40B4-BE49-F238E27FC236}">
                <a16:creationId xmlns:a16="http://schemas.microsoft.com/office/drawing/2014/main" id="{C20B6973-05F4-9406-F056-DA419740DA1D}"/>
              </a:ext>
            </a:extLst>
          </p:cNvPr>
          <p:cNvSpPr txBox="1"/>
          <p:nvPr/>
        </p:nvSpPr>
        <p:spPr>
          <a:xfrm>
            <a:off x="240783" y="7827542"/>
            <a:ext cx="1666891" cy="94593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2" name="תיבת טקסט 71">
            <a:extLst>
              <a:ext uri="{FF2B5EF4-FFF2-40B4-BE49-F238E27FC236}">
                <a16:creationId xmlns:a16="http://schemas.microsoft.com/office/drawing/2014/main" id="{5D004286-7929-B811-B745-28ABE95BEB56}"/>
              </a:ext>
            </a:extLst>
          </p:cNvPr>
          <p:cNvSpPr txBox="1"/>
          <p:nvPr/>
        </p:nvSpPr>
        <p:spPr>
          <a:xfrm>
            <a:off x="1904548" y="8143344"/>
            <a:ext cx="1627306" cy="98559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3" name="תיבת טקסט 72">
            <a:extLst>
              <a:ext uri="{FF2B5EF4-FFF2-40B4-BE49-F238E27FC236}">
                <a16:creationId xmlns:a16="http://schemas.microsoft.com/office/drawing/2014/main" id="{A77B09CA-3F6D-E66B-FFE4-32751CFB3740}"/>
              </a:ext>
            </a:extLst>
          </p:cNvPr>
          <p:cNvSpPr txBox="1"/>
          <p:nvPr/>
        </p:nvSpPr>
        <p:spPr>
          <a:xfrm>
            <a:off x="217165" y="8791362"/>
            <a:ext cx="1690509" cy="107234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5" name="חץ: שמאלה-ימינה 74">
            <a:extLst>
              <a:ext uri="{FF2B5EF4-FFF2-40B4-BE49-F238E27FC236}">
                <a16:creationId xmlns:a16="http://schemas.microsoft.com/office/drawing/2014/main" id="{22F7B87B-B4E4-3273-3223-2BB5CDB7A96C}"/>
              </a:ext>
            </a:extLst>
          </p:cNvPr>
          <p:cNvSpPr/>
          <p:nvPr/>
        </p:nvSpPr>
        <p:spPr>
          <a:xfrm>
            <a:off x="3680460" y="8300509"/>
            <a:ext cx="426720" cy="16800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תיבת טקסט 75">
            <a:extLst>
              <a:ext uri="{FF2B5EF4-FFF2-40B4-BE49-F238E27FC236}">
                <a16:creationId xmlns:a16="http://schemas.microsoft.com/office/drawing/2014/main" id="{8D7251EF-81EF-0993-0FE6-1580117FB3D8}"/>
              </a:ext>
            </a:extLst>
          </p:cNvPr>
          <p:cNvSpPr txBox="1"/>
          <p:nvPr/>
        </p:nvSpPr>
        <p:spPr>
          <a:xfrm>
            <a:off x="508337" y="6830709"/>
            <a:ext cx="910868" cy="2308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1"/>
                </a:solidFill>
              </a:rPr>
              <a:t>Array example:</a:t>
            </a:r>
          </a:p>
        </p:txBody>
      </p:sp>
      <p:sp>
        <p:nvSpPr>
          <p:cNvPr id="78" name="תיבת טקסט 77">
            <a:extLst>
              <a:ext uri="{FF2B5EF4-FFF2-40B4-BE49-F238E27FC236}">
                <a16:creationId xmlns:a16="http://schemas.microsoft.com/office/drawing/2014/main" id="{DBAD0773-92B1-AF77-87E2-FBCFC1ECB7CB}"/>
              </a:ext>
            </a:extLst>
          </p:cNvPr>
          <p:cNvSpPr txBox="1"/>
          <p:nvPr/>
        </p:nvSpPr>
        <p:spPr>
          <a:xfrm>
            <a:off x="499220" y="7599682"/>
            <a:ext cx="1799568" cy="2000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accent1"/>
                </a:solidFill>
              </a:rPr>
              <a:t>100K Array(2^3 </a:t>
            </a:r>
            <a:r>
              <a:rPr lang="en-US" sz="700" dirty="0">
                <a:solidFill>
                  <a:schemeClr val="accent1"/>
                </a:solidFill>
                <a:latin typeface="Assistant" pitchFamily="2" charset="-79"/>
                <a:cs typeface="Assistant" pitchFamily="2" charset="-79"/>
              </a:rPr>
              <a:t>variables)</a:t>
            </a:r>
            <a:r>
              <a:rPr lang="en-US" sz="700" dirty="0">
                <a:solidFill>
                  <a:schemeClr val="accent1"/>
                </a:solidFill>
              </a:rPr>
              <a:t> bit size  diagrams</a:t>
            </a:r>
          </a:p>
        </p:txBody>
      </p:sp>
      <p:sp>
        <p:nvSpPr>
          <p:cNvPr id="79" name="מלבן 78">
            <a:extLst>
              <a:ext uri="{FF2B5EF4-FFF2-40B4-BE49-F238E27FC236}">
                <a16:creationId xmlns:a16="http://schemas.microsoft.com/office/drawing/2014/main" id="{9BF92487-7D17-8541-6650-75DDF018007C}"/>
              </a:ext>
            </a:extLst>
          </p:cNvPr>
          <p:cNvSpPr/>
          <p:nvPr/>
        </p:nvSpPr>
        <p:spPr>
          <a:xfrm>
            <a:off x="1980540" y="9224783"/>
            <a:ext cx="127660" cy="13109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מלבן 79">
            <a:extLst>
              <a:ext uri="{FF2B5EF4-FFF2-40B4-BE49-F238E27FC236}">
                <a16:creationId xmlns:a16="http://schemas.microsoft.com/office/drawing/2014/main" id="{E094B73C-97AD-2FDB-28EE-88A58914A178}"/>
              </a:ext>
            </a:extLst>
          </p:cNvPr>
          <p:cNvSpPr/>
          <p:nvPr/>
        </p:nvSpPr>
        <p:spPr>
          <a:xfrm>
            <a:off x="1980540" y="9384174"/>
            <a:ext cx="127660" cy="131099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מלבן 80">
            <a:extLst>
              <a:ext uri="{FF2B5EF4-FFF2-40B4-BE49-F238E27FC236}">
                <a16:creationId xmlns:a16="http://schemas.microsoft.com/office/drawing/2014/main" id="{00008970-B621-B614-3C8E-F61F3E151A30}"/>
              </a:ext>
            </a:extLst>
          </p:cNvPr>
          <p:cNvSpPr/>
          <p:nvPr/>
        </p:nvSpPr>
        <p:spPr>
          <a:xfrm>
            <a:off x="1980540" y="9548209"/>
            <a:ext cx="127660" cy="121262"/>
          </a:xfrm>
          <a:prstGeom prst="rect">
            <a:avLst/>
          </a:prstGeom>
          <a:solidFill>
            <a:srgbClr val="3898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תיבת טקסט 81">
            <a:extLst>
              <a:ext uri="{FF2B5EF4-FFF2-40B4-BE49-F238E27FC236}">
                <a16:creationId xmlns:a16="http://schemas.microsoft.com/office/drawing/2014/main" id="{D547A08D-4467-491A-70CB-E1D85B0CF99A}"/>
              </a:ext>
            </a:extLst>
          </p:cNvPr>
          <p:cNvSpPr txBox="1"/>
          <p:nvPr/>
        </p:nvSpPr>
        <p:spPr>
          <a:xfrm>
            <a:off x="2022909" y="9367085"/>
            <a:ext cx="424252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 </a:t>
            </a:r>
            <a:r>
              <a:rPr lang="en-US" sz="400" dirty="0"/>
              <a:t>- Equals</a:t>
            </a:r>
          </a:p>
        </p:txBody>
      </p:sp>
      <p:sp>
        <p:nvSpPr>
          <p:cNvPr id="83" name="תיבת טקסט 82">
            <a:extLst>
              <a:ext uri="{FF2B5EF4-FFF2-40B4-BE49-F238E27FC236}">
                <a16:creationId xmlns:a16="http://schemas.microsoft.com/office/drawing/2014/main" id="{8182F867-0348-65F4-843E-A23D6A2D2AC5}"/>
              </a:ext>
            </a:extLst>
          </p:cNvPr>
          <p:cNvSpPr txBox="1"/>
          <p:nvPr/>
        </p:nvSpPr>
        <p:spPr>
          <a:xfrm>
            <a:off x="2028852" y="9193808"/>
            <a:ext cx="53987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 </a:t>
            </a:r>
            <a:r>
              <a:rPr lang="en-US" sz="400" dirty="0"/>
              <a:t>- </a:t>
            </a:r>
            <a:r>
              <a:rPr lang="en-US" sz="400" dirty="0" err="1"/>
              <a:t>Haar</a:t>
            </a:r>
            <a:r>
              <a:rPr lang="en-US" sz="400" dirty="0"/>
              <a:t> Integer</a:t>
            </a:r>
          </a:p>
        </p:txBody>
      </p:sp>
      <p:sp>
        <p:nvSpPr>
          <p:cNvPr id="84" name="תיבת טקסט 83">
            <a:extLst>
              <a:ext uri="{FF2B5EF4-FFF2-40B4-BE49-F238E27FC236}">
                <a16:creationId xmlns:a16="http://schemas.microsoft.com/office/drawing/2014/main" id="{DC5301D3-B7F2-2A2A-5AAA-62B01F8CAEA4}"/>
              </a:ext>
            </a:extLst>
          </p:cNvPr>
          <p:cNvSpPr txBox="1"/>
          <p:nvPr/>
        </p:nvSpPr>
        <p:spPr>
          <a:xfrm>
            <a:off x="2044701" y="9515273"/>
            <a:ext cx="6689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 </a:t>
            </a:r>
            <a:r>
              <a:rPr lang="en-US" sz="400" dirty="0"/>
              <a:t>- </a:t>
            </a:r>
            <a:r>
              <a:rPr lang="en-US" sz="400" dirty="0" err="1"/>
              <a:t>Haar</a:t>
            </a:r>
            <a:r>
              <a:rPr lang="en-US" sz="400" dirty="0"/>
              <a:t> New</a:t>
            </a:r>
            <a:br>
              <a:rPr lang="en-US" sz="400" dirty="0"/>
            </a:br>
            <a:r>
              <a:rPr lang="en-US" sz="400" dirty="0"/>
              <a:t> Transform</a:t>
            </a:r>
          </a:p>
        </p:txBody>
      </p:sp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2752</TotalTime>
  <Words>299</Words>
  <Application>Microsoft Office PowerPoint</Application>
  <PresentationFormat>מותאם אישית</PresentationFormat>
  <Paragraphs>52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7" baseType="lpstr">
      <vt:lpstr>Arial</vt:lpstr>
      <vt:lpstr>Assistant</vt:lpstr>
      <vt:lpstr>Calibri</vt:lpstr>
      <vt:lpstr>Calibri Light</vt:lpstr>
      <vt:lpstr>SFSL1095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42</cp:revision>
  <dcterms:created xsi:type="dcterms:W3CDTF">2020-05-21T09:41:20Z</dcterms:created>
  <dcterms:modified xsi:type="dcterms:W3CDTF">2022-05-25T21:50:43Z</dcterms:modified>
</cp:coreProperties>
</file>