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7" r:id="rId2"/>
  </p:sldIdLst>
  <p:sldSz cx="6858000" cy="10080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98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86" autoAdjust="0"/>
    <p:restoredTop sz="94660"/>
  </p:normalViewPr>
  <p:slideViewPr>
    <p:cSldViewPr snapToGrid="0">
      <p:cViewPr>
        <p:scale>
          <a:sx n="100" d="100"/>
          <a:sy n="100" d="100"/>
        </p:scale>
        <p:origin x="1152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49770"/>
            <a:ext cx="5829300" cy="3509551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94662"/>
            <a:ext cx="5143500" cy="243381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71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5038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513159"/>
            <a:ext cx="5915025" cy="419325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746088"/>
            <a:ext cx="5915025" cy="220513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025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83500"/>
            <a:ext cx="2914650" cy="63960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83500"/>
            <a:ext cx="2914650" cy="63960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386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36702"/>
            <a:ext cx="5915025" cy="194845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71154"/>
            <a:ext cx="2901255" cy="121107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82228"/>
            <a:ext cx="2901255" cy="54160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71154"/>
            <a:ext cx="2915543" cy="121107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82228"/>
            <a:ext cx="2915543" cy="54160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655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088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415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72042"/>
            <a:ext cx="2211884" cy="235214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51426"/>
            <a:ext cx="3471863" cy="716377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024188"/>
            <a:ext cx="2211884" cy="560268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1213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72042"/>
            <a:ext cx="2211884" cy="235214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51426"/>
            <a:ext cx="3471863" cy="716377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024188"/>
            <a:ext cx="2211884" cy="560268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269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523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36700"/>
            <a:ext cx="1478756" cy="854286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36700"/>
            <a:ext cx="4350544" cy="854286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248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36702"/>
            <a:ext cx="5915025" cy="1948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83500"/>
            <a:ext cx="5915025" cy="6396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343248"/>
            <a:ext cx="1543050" cy="536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343248"/>
            <a:ext cx="2314575" cy="536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343248"/>
            <a:ext cx="1543050" cy="536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737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jp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כותרת משנה 2"/>
          <p:cNvSpPr>
            <a:spLocks noGrp="1"/>
          </p:cNvSpPr>
          <p:nvPr>
            <p:ph type="subTitle" idx="1"/>
          </p:nvPr>
        </p:nvSpPr>
        <p:spPr>
          <a:xfrm>
            <a:off x="1" y="0"/>
            <a:ext cx="6857999" cy="1283747"/>
          </a:xfr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>
            <a:normAutofit fontScale="92500" lnSpcReduction="20000"/>
          </a:bodyPr>
          <a:lstStyle/>
          <a:p>
            <a:pPr defTabSz="951583"/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       </a:t>
            </a:r>
            <a:r>
              <a:rPr lang="en-US" sz="1900" b="1" dirty="0">
                <a:solidFill>
                  <a:schemeClr val="tx1"/>
                </a:solidFill>
                <a:latin typeface="Calibri"/>
                <a:cs typeface="Arial"/>
              </a:rPr>
              <a:t>Data Compression – </a:t>
            </a:r>
            <a:r>
              <a:rPr lang="en-US" b="1" dirty="0">
                <a:solidFill>
                  <a:schemeClr val="tx1"/>
                </a:solidFill>
                <a:latin typeface="Calibri"/>
                <a:cs typeface="Arial"/>
              </a:rPr>
              <a:t>Comparing</a:t>
            </a:r>
            <a:r>
              <a:rPr lang="en-US" sz="1900" b="1" dirty="0">
                <a:solidFill>
                  <a:schemeClr val="tx1"/>
                </a:solidFill>
                <a:latin typeface="Calibri"/>
                <a:cs typeface="Arial"/>
              </a:rPr>
              <a:t> </a:t>
            </a:r>
            <a:r>
              <a:rPr lang="en-US" sz="1900" b="1" dirty="0" err="1">
                <a:solidFill>
                  <a:schemeClr val="tx1"/>
                </a:solidFill>
                <a:latin typeface="Calibri"/>
                <a:cs typeface="Arial"/>
              </a:rPr>
              <a:t>Haar’s</a:t>
            </a:r>
            <a:r>
              <a:rPr lang="en-US" sz="1900" b="1" dirty="0">
                <a:solidFill>
                  <a:schemeClr val="tx1"/>
                </a:solidFill>
                <a:latin typeface="Calibri"/>
                <a:cs typeface="Arial"/>
              </a:rPr>
              <a:t> Algorithms</a:t>
            </a:r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endParaRPr lang="en-US" sz="1307" b="1" dirty="0">
              <a:solidFill>
                <a:schemeClr val="tx1"/>
              </a:solidFill>
              <a:latin typeface="Calibri"/>
              <a:cs typeface="Arial"/>
            </a:endParaRPr>
          </a:p>
          <a:p>
            <a:pPr defTabSz="951583"/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Presenters: </a:t>
            </a:r>
            <a:r>
              <a:rPr lang="en-US" sz="1307" b="1" dirty="0" err="1">
                <a:solidFill>
                  <a:schemeClr val="tx1"/>
                </a:solidFill>
                <a:latin typeface="Calibri"/>
                <a:cs typeface="Arial"/>
              </a:rPr>
              <a:t>Liel</a:t>
            </a: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 </a:t>
            </a:r>
            <a:r>
              <a:rPr lang="en-US" sz="1307" b="1" dirty="0" err="1">
                <a:solidFill>
                  <a:schemeClr val="tx1"/>
                </a:solidFill>
                <a:latin typeface="Calibri"/>
                <a:cs typeface="Arial"/>
              </a:rPr>
              <a:t>Berniker</a:t>
            </a: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, Noy </a:t>
            </a:r>
            <a:r>
              <a:rPr lang="en-US" sz="1307" b="1" dirty="0" err="1">
                <a:solidFill>
                  <a:schemeClr val="tx1"/>
                </a:solidFill>
                <a:latin typeface="Calibri"/>
                <a:cs typeface="Arial"/>
              </a:rPr>
              <a:t>Osi</a:t>
            </a: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, Dvir Segal</a:t>
            </a:r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Instructor: Prof. Dana Shapira</a:t>
            </a:r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endParaRPr lang="he-IL" sz="1307" b="1" dirty="0">
              <a:solidFill>
                <a:schemeClr val="tx1"/>
              </a:solidFill>
              <a:latin typeface="Calibri"/>
              <a:cs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244880" y="5002000"/>
            <a:ext cx="184730" cy="173766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rtl="1"/>
            <a:endParaRPr lang="he-IL" sz="490" dirty="0"/>
          </a:p>
        </p:txBody>
      </p:sp>
      <p:sp>
        <p:nvSpPr>
          <p:cNvPr id="12" name="Rounded Rectangle 6"/>
          <p:cNvSpPr/>
          <p:nvPr/>
        </p:nvSpPr>
        <p:spPr>
          <a:xfrm>
            <a:off x="3554669" y="1306525"/>
            <a:ext cx="3230880" cy="2154928"/>
          </a:xfrm>
          <a:prstGeom prst="roundRect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1" anchor="t"/>
          <a:lstStyle/>
          <a:p>
            <a:pPr>
              <a:defRPr/>
            </a:pPr>
            <a:r>
              <a:rPr lang="en-US" sz="121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2</a:t>
            </a:r>
            <a:r>
              <a:rPr lang="en-US" sz="140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. </a:t>
            </a:r>
            <a:r>
              <a:rPr lang="en-US" sz="1200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Introduction</a:t>
            </a:r>
            <a:r>
              <a:rPr lang="en-US" sz="1400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:</a:t>
            </a:r>
            <a:endParaRPr lang="en-US" sz="1250" u="sng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r>
              <a:rPr lang="en-US" sz="1050" b="0" i="0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Data compression is the process of encoding, restructuring, or otherwise modifying data in order to reduce its size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  <a:endParaRPr lang="en-US" sz="105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r>
              <a:rPr lang="en-US" sz="105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 our </a:t>
            </a:r>
            <a:r>
              <a:rPr lang="en-US" sz="1050" b="0" i="0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Data compression 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research, we specified the Haar wavelet transform, which is a simple discrete transform.</a:t>
            </a:r>
            <a:endParaRPr lang="en-US" sz="105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r>
              <a:rPr lang="en-US" sz="105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We compare the compression performance of two main Haar algorithms applied for lossless compression of integer sequences.</a:t>
            </a:r>
            <a:endParaRPr lang="en-US" sz="105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r>
              <a:rPr lang="en-US" sz="1050" b="0" i="1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Haar Integer 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and 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Haar New Transform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  <a:endParaRPr lang="en-US" sz="105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ounded Rectangle 6"/>
          <p:cNvSpPr/>
          <p:nvPr/>
        </p:nvSpPr>
        <p:spPr>
          <a:xfrm>
            <a:off x="79856" y="3318285"/>
            <a:ext cx="2929204" cy="2517852"/>
          </a:xfrm>
          <a:prstGeom prst="round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1" anchor="t"/>
          <a:lstStyle/>
          <a:p>
            <a:pPr>
              <a:defRPr/>
            </a:pPr>
            <a:r>
              <a:rPr lang="he-IL" sz="1200" b="1" dirty="0"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3</a:t>
            </a:r>
            <a:r>
              <a:rPr lang="en-US" sz="1200" b="1" dirty="0"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. </a:t>
            </a:r>
            <a:r>
              <a:rPr lang="en-US" sz="1200" u="sng" dirty="0">
                <a:latin typeface="Arial" panose="020B0604020202020204" pitchFamily="34" charset="0"/>
                <a:cs typeface="Arial" panose="020B0604020202020204" pitchFamily="34" charset="0"/>
              </a:rPr>
              <a:t>Methods and </a:t>
            </a:r>
            <a:r>
              <a:rPr lang="en-US" sz="1200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Selected Approach </a:t>
            </a:r>
            <a:r>
              <a:rPr lang="en-US" sz="1200" u="sng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r>
              <a:rPr lang="en-US" sz="1100" b="0" i="0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method to compare the efficiency of the  algorithms was to measure the bit size compressed </a:t>
            </a:r>
            <a:r>
              <a:rPr lang="he-IL" sz="1100" b="0" i="0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sz="1100" b="0" i="0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message. </a:t>
            </a: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endParaRPr lang="en-US" sz="1000" b="0" i="0" dirty="0"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endParaRPr lang="en-US" sz="1000" b="0" i="0" dirty="0"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endParaRPr lang="en-US" sz="1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endParaRPr lang="en-US" sz="1000" b="0" i="0" dirty="0"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endParaRPr lang="en-US" sz="1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endParaRPr lang="en-US" sz="1000" b="0" i="0" dirty="0"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endParaRPr lang="en-US" sz="1000" b="0" i="0" dirty="0"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br>
              <a:rPr lang="en-US" sz="1000" b="0" i="0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lang="en-US" sz="1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All the implementations were made in C++ </a:t>
            </a:r>
            <a:endParaRPr lang="en-US" sz="1000" b="0" i="0" dirty="0">
              <a:solidFill>
                <a:srgbClr val="222222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endParaRPr lang="en-US" sz="1000" b="1" dirty="0">
              <a:latin typeface="Arial" pitchFamily="34" charset="0"/>
              <a:ea typeface="Tahoma" pitchFamily="34" charset="0"/>
              <a:cs typeface="Arial" pitchFamily="34" charset="0"/>
            </a:endParaRPr>
          </a:p>
          <a:p>
            <a:pPr>
              <a:defRPr/>
            </a:pPr>
            <a:r>
              <a:rPr lang="en-US" sz="1000" b="1" dirty="0">
                <a:latin typeface="Arial" pitchFamily="34" charset="0"/>
                <a:ea typeface="Tahoma" pitchFamily="34" charset="0"/>
                <a:cs typeface="Arial" pitchFamily="34" charset="0"/>
              </a:rPr>
              <a:t>   </a:t>
            </a:r>
            <a:br>
              <a:rPr lang="en-US" sz="1000" b="1" dirty="0">
                <a:latin typeface="Arial" pitchFamily="34" charset="0"/>
                <a:ea typeface="Tahoma" pitchFamily="34" charset="0"/>
                <a:cs typeface="Arial" pitchFamily="34" charset="0"/>
              </a:rPr>
            </a:br>
            <a:r>
              <a:rPr lang="he-IL" sz="1000" b="1" dirty="0">
                <a:latin typeface="Arial" pitchFamily="34" charset="0"/>
                <a:ea typeface="Tahoma" pitchFamily="34" charset="0"/>
                <a:cs typeface="Arial" pitchFamily="34" charset="0"/>
              </a:rPr>
              <a:t> </a:t>
            </a:r>
            <a:endParaRPr lang="en-US" sz="1000" b="1" dirty="0">
              <a:latin typeface="Arial" pitchFamily="34" charset="0"/>
              <a:ea typeface="Tahoma" pitchFamily="34" charset="0"/>
              <a:cs typeface="Arial" pitchFamily="34" charset="0"/>
            </a:endParaRPr>
          </a:p>
        </p:txBody>
      </p:sp>
      <p:sp>
        <p:nvSpPr>
          <p:cNvPr id="29" name="Rounded Rectangle 6"/>
          <p:cNvSpPr/>
          <p:nvPr/>
        </p:nvSpPr>
        <p:spPr>
          <a:xfrm>
            <a:off x="3141382" y="3681209"/>
            <a:ext cx="3686927" cy="2154928"/>
          </a:xfrm>
          <a:prstGeom prst="roundRect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1" anchor="t"/>
          <a:lstStyle/>
          <a:p>
            <a:pPr algn="l">
              <a:defRPr/>
            </a:pPr>
            <a:r>
              <a:rPr lang="en-US" sz="120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4. </a:t>
            </a:r>
            <a:r>
              <a:rPr lang="en-US" sz="1100" b="0" i="1" u="sng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Haar Integer </a:t>
            </a:r>
            <a:r>
              <a:rPr lang="en-US" sz="1100" b="0" i="0" u="sng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and </a:t>
            </a:r>
            <a:r>
              <a:rPr lang="en-US" sz="1100" b="0" i="1" u="sng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Haar New Transform pseudo codes</a:t>
            </a:r>
            <a:r>
              <a:rPr lang="en-US" sz="1100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: </a:t>
            </a:r>
            <a:br>
              <a:rPr lang="en-US" sz="1200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</a:br>
            <a:endParaRPr lang="en-US" sz="1200" u="sng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</p:txBody>
      </p:sp>
      <p:sp>
        <p:nvSpPr>
          <p:cNvPr id="36" name="Rounded Rectangle 6"/>
          <p:cNvSpPr/>
          <p:nvPr/>
        </p:nvSpPr>
        <p:spPr>
          <a:xfrm>
            <a:off x="98323" y="5934943"/>
            <a:ext cx="6729986" cy="4011486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1" anchor="t"/>
          <a:lstStyle/>
          <a:p>
            <a:pPr rtl="1">
              <a:defRPr/>
            </a:pPr>
            <a:r>
              <a:rPr lang="en-US" sz="120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5. </a:t>
            </a:r>
            <a:r>
              <a:rPr lang="en-US" sz="1200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Solution Description:</a:t>
            </a:r>
            <a:endParaRPr lang="he-IL" sz="1200" u="sng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695404" y="9276783"/>
            <a:ext cx="750659" cy="209609"/>
          </a:xfrm>
          <a:prstGeom prst="rect">
            <a:avLst/>
          </a:prstGeom>
          <a:solidFill>
            <a:srgbClr val="FFFFFF">
              <a:alpha val="50196"/>
            </a:srgbClr>
          </a:solidFill>
        </p:spPr>
        <p:txBody>
          <a:bodyPr wrap="square" rtlCol="1">
            <a:spAutoFit/>
          </a:bodyPr>
          <a:lstStyle/>
          <a:p>
            <a:pPr algn="ctr"/>
            <a:r>
              <a:rPr lang="en-US" sz="762" dirty="0">
                <a:latin typeface="Arial" pitchFamily="34" charset="0"/>
                <a:cs typeface="Arial" pitchFamily="34" charset="0"/>
              </a:rPr>
              <a:t>Visit Us</a:t>
            </a:r>
            <a:endParaRPr lang="he-IL" sz="762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4" name="Arrow: Left 13">
            <a:extLst>
              <a:ext uri="{FF2B5EF4-FFF2-40B4-BE49-F238E27FC236}">
                <a16:creationId xmlns:a16="http://schemas.microsoft.com/office/drawing/2014/main" id="{74739229-DA93-498A-93F3-E36AC736CA39}"/>
              </a:ext>
            </a:extLst>
          </p:cNvPr>
          <p:cNvSpPr/>
          <p:nvPr/>
        </p:nvSpPr>
        <p:spPr>
          <a:xfrm rot="10800000">
            <a:off x="3141383" y="1911601"/>
            <a:ext cx="397983" cy="24173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49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5ACDA5A-2EDD-4539-A5A7-1A7E2E4C029F}"/>
              </a:ext>
            </a:extLst>
          </p:cNvPr>
          <p:cNvSpPr/>
          <p:nvPr/>
        </p:nvSpPr>
        <p:spPr>
          <a:xfrm rot="10800000">
            <a:off x="2877095" y="3135956"/>
            <a:ext cx="677573" cy="33688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490" dirty="0"/>
          </a:p>
        </p:txBody>
      </p:sp>
      <p:sp>
        <p:nvSpPr>
          <p:cNvPr id="52" name="Arrow: Left 51">
            <a:extLst>
              <a:ext uri="{FF2B5EF4-FFF2-40B4-BE49-F238E27FC236}">
                <a16:creationId xmlns:a16="http://schemas.microsoft.com/office/drawing/2014/main" id="{B42B5E19-1352-4CD7-BA33-5F59FA87A388}"/>
              </a:ext>
            </a:extLst>
          </p:cNvPr>
          <p:cNvSpPr/>
          <p:nvPr/>
        </p:nvSpPr>
        <p:spPr>
          <a:xfrm rot="16200000">
            <a:off x="4773800" y="3429134"/>
            <a:ext cx="200287" cy="260445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49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934A1CC8-3731-4427-9E37-E524BEB70E91}"/>
              </a:ext>
            </a:extLst>
          </p:cNvPr>
          <p:cNvSpPr/>
          <p:nvPr/>
        </p:nvSpPr>
        <p:spPr>
          <a:xfrm>
            <a:off x="1211580" y="5709488"/>
            <a:ext cx="374849" cy="29701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490"/>
          </a:p>
        </p:txBody>
      </p:sp>
      <p:sp>
        <p:nvSpPr>
          <p:cNvPr id="18" name="Rounded Rectangle 6">
            <a:extLst>
              <a:ext uri="{FF2B5EF4-FFF2-40B4-BE49-F238E27FC236}">
                <a16:creationId xmlns:a16="http://schemas.microsoft.com/office/drawing/2014/main" id="{833CA314-16B2-48AE-972C-270F5704890A}"/>
              </a:ext>
            </a:extLst>
          </p:cNvPr>
          <p:cNvSpPr/>
          <p:nvPr/>
        </p:nvSpPr>
        <p:spPr>
          <a:xfrm>
            <a:off x="121537" y="1375549"/>
            <a:ext cx="3004541" cy="1692730"/>
          </a:xfrm>
          <a:prstGeom prst="round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1" anchor="t"/>
          <a:lstStyle/>
          <a:p>
            <a:pPr>
              <a:buFontTx/>
              <a:buAutoNum type="arabicPeriod"/>
              <a:defRPr/>
            </a:pPr>
            <a:r>
              <a:rPr lang="en-US" sz="1400" u="sng" dirty="0">
                <a:latin typeface="Arial" panose="020B0604020202020204" pitchFamily="34" charset="0"/>
                <a:cs typeface="Arial" panose="020B0604020202020204" pitchFamily="34" charset="0"/>
              </a:rPr>
              <a:t>project goal:  </a:t>
            </a:r>
          </a:p>
          <a:p>
            <a:pPr>
              <a:defRPr/>
            </a:pPr>
            <a:r>
              <a:rPr lang="en-US" sz="125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Analyze and compare different  algorithms presented in the paper </a:t>
            </a:r>
            <a:r>
              <a:rPr lang="en-US" sz="1250" b="0" i="0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 “New Compression Schemes for Natural Number Sequences” ,</a:t>
            </a:r>
            <a:r>
              <a:rPr lang="en-US" sz="125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that use the Haar transform for data compression. </a:t>
            </a:r>
            <a:endParaRPr lang="en-US" sz="125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C49D1D0-6211-48F5-B887-977D5BA10AE3}"/>
              </a:ext>
            </a:extLst>
          </p:cNvPr>
          <p:cNvCxnSpPr>
            <a:cxnSpLocks/>
          </p:cNvCxnSpPr>
          <p:nvPr/>
        </p:nvCxnSpPr>
        <p:spPr>
          <a:xfrm>
            <a:off x="5331699" y="9669471"/>
            <a:ext cx="4372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6CFC95C-2546-AA42-06DB-F6A83ED431C2}"/>
              </a:ext>
            </a:extLst>
          </p:cNvPr>
          <p:cNvSpPr/>
          <p:nvPr/>
        </p:nvSpPr>
        <p:spPr>
          <a:xfrm>
            <a:off x="5940055" y="240873"/>
            <a:ext cx="845495" cy="7278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EE06C4-1B62-4427-98E9-3F44949EBC0B}"/>
              </a:ext>
            </a:extLst>
          </p:cNvPr>
          <p:cNvSpPr/>
          <p:nvPr/>
        </p:nvSpPr>
        <p:spPr>
          <a:xfrm>
            <a:off x="-1717547" y="-4645382"/>
            <a:ext cx="62858" cy="15958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dirty="0"/>
          </a:p>
        </p:txBody>
      </p:sp>
      <p:pic>
        <p:nvPicPr>
          <p:cNvPr id="19" name="תמונה 18">
            <a:extLst>
              <a:ext uri="{FF2B5EF4-FFF2-40B4-BE49-F238E27FC236}">
                <a16:creationId xmlns:a16="http://schemas.microsoft.com/office/drawing/2014/main" id="{C73F2B34-3D9E-0918-6D79-A9E4F21513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6802" y="9454826"/>
            <a:ext cx="467864" cy="467864"/>
          </a:xfrm>
          <a:prstGeom prst="rect">
            <a:avLst/>
          </a:prstGeom>
        </p:spPr>
      </p:pic>
      <p:pic>
        <p:nvPicPr>
          <p:cNvPr id="21" name="תמונה 20">
            <a:extLst>
              <a:ext uri="{FF2B5EF4-FFF2-40B4-BE49-F238E27FC236}">
                <a16:creationId xmlns:a16="http://schemas.microsoft.com/office/drawing/2014/main" id="{A6E5B8EA-65D1-9B0F-5F4E-ADB541E066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486" y="4191126"/>
            <a:ext cx="1912862" cy="1469906"/>
          </a:xfrm>
          <a:prstGeom prst="rect">
            <a:avLst/>
          </a:prstGeom>
        </p:spPr>
      </p:pic>
      <p:pic>
        <p:nvPicPr>
          <p:cNvPr id="23" name="תמונה 22">
            <a:extLst>
              <a:ext uri="{FF2B5EF4-FFF2-40B4-BE49-F238E27FC236}">
                <a16:creationId xmlns:a16="http://schemas.microsoft.com/office/drawing/2014/main" id="{E7670314-2C54-21E1-3D5F-EECD027606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3643" y="4188912"/>
            <a:ext cx="1851906" cy="1450419"/>
          </a:xfrm>
          <a:prstGeom prst="rect">
            <a:avLst/>
          </a:prstGeom>
        </p:spPr>
      </p:pic>
      <p:sp>
        <p:nvSpPr>
          <p:cNvPr id="27" name="מלבן 26">
            <a:extLst>
              <a:ext uri="{FF2B5EF4-FFF2-40B4-BE49-F238E27FC236}">
                <a16:creationId xmlns:a16="http://schemas.microsoft.com/office/drawing/2014/main" id="{FBE142B5-9FA1-A490-362F-2DCE6F1DC1C7}"/>
              </a:ext>
            </a:extLst>
          </p:cNvPr>
          <p:cNvSpPr/>
          <p:nvPr/>
        </p:nvSpPr>
        <p:spPr>
          <a:xfrm>
            <a:off x="2611788" y="9565287"/>
            <a:ext cx="2670402" cy="20836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" name="תיבת טקסט 27">
            <a:extLst>
              <a:ext uri="{FF2B5EF4-FFF2-40B4-BE49-F238E27FC236}">
                <a16:creationId xmlns:a16="http://schemas.microsoft.com/office/drawing/2014/main" id="{6790A299-C0EF-1437-C729-6EA6F571CDC8}"/>
              </a:ext>
            </a:extLst>
          </p:cNvPr>
          <p:cNvSpPr txBox="1"/>
          <p:nvPr/>
        </p:nvSpPr>
        <p:spPr>
          <a:xfrm>
            <a:off x="2603290" y="9542513"/>
            <a:ext cx="268739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en-US" sz="1050" dirty="0"/>
              <a:t>Scan </a:t>
            </a:r>
            <a:r>
              <a:rPr lang="en-US" sz="1050" dirty="0" err="1"/>
              <a:t>QRCode</a:t>
            </a:r>
            <a:r>
              <a:rPr lang="en-US" sz="1050" dirty="0"/>
              <a:t> for full Instructions(</a:t>
            </a:r>
            <a:r>
              <a:rPr lang="en-US" sz="1050" dirty="0" err="1"/>
              <a:t>github</a:t>
            </a:r>
            <a:r>
              <a:rPr lang="en-US" sz="1050" dirty="0"/>
              <a:t>)</a:t>
            </a:r>
          </a:p>
        </p:txBody>
      </p:sp>
      <p:pic>
        <p:nvPicPr>
          <p:cNvPr id="31" name="תמונה 30">
            <a:extLst>
              <a:ext uri="{FF2B5EF4-FFF2-40B4-BE49-F238E27FC236}">
                <a16:creationId xmlns:a16="http://schemas.microsoft.com/office/drawing/2014/main" id="{E47411B7-9390-F743-2C58-728A9F442C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0867"/>
            <a:ext cx="1211580" cy="680080"/>
          </a:xfrm>
          <a:prstGeom prst="rect">
            <a:avLst/>
          </a:prstGeom>
        </p:spPr>
      </p:pic>
      <p:graphicFrame>
        <p:nvGraphicFramePr>
          <p:cNvPr id="4" name="טבלה 3">
            <a:extLst>
              <a:ext uri="{FF2B5EF4-FFF2-40B4-BE49-F238E27FC236}">
                <a16:creationId xmlns:a16="http://schemas.microsoft.com/office/drawing/2014/main" id="{BFB8E754-438B-1640-27C4-B36173B30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125943"/>
              </p:ext>
            </p:extLst>
          </p:nvPr>
        </p:nvGraphicFramePr>
        <p:xfrm>
          <a:off x="119440" y="4270756"/>
          <a:ext cx="2817788" cy="100767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80185">
                  <a:extLst>
                    <a:ext uri="{9D8B030D-6E8A-4147-A177-3AD203B41FA5}">
                      <a16:colId xmlns:a16="http://schemas.microsoft.com/office/drawing/2014/main" val="399169425"/>
                    </a:ext>
                  </a:extLst>
                </a:gridCol>
                <a:gridCol w="1637603">
                  <a:extLst>
                    <a:ext uri="{9D8B030D-6E8A-4147-A177-3AD203B41FA5}">
                      <a16:colId xmlns:a16="http://schemas.microsoft.com/office/drawing/2014/main" val="2319214804"/>
                    </a:ext>
                  </a:extLst>
                </a:gridCol>
              </a:tblGrid>
              <a:tr h="298064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Algorithms: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compression algorithms :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74764049"/>
                  </a:ext>
                </a:extLst>
              </a:tr>
              <a:tr h="14566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Haar integer 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 rowSpan="2"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 *Elias code 𝑪𝜹</a:t>
                      </a:r>
                      <a:br>
                        <a:rPr lang="en-US" sz="1100" dirty="0">
                          <a:effectLst/>
                        </a:rPr>
                      </a:br>
                      <a:r>
                        <a:rPr lang="en-US" sz="1100" dirty="0">
                          <a:effectLst/>
                        </a:rPr>
                        <a:t>* binary coding</a:t>
                      </a:r>
                      <a:br>
                        <a:rPr lang="en-US" sz="1100" dirty="0">
                          <a:effectLst/>
                        </a:rPr>
                      </a:br>
                      <a:r>
                        <a:rPr lang="en-US" sz="1100" dirty="0">
                          <a:effectLst/>
                        </a:rPr>
                        <a:t>* unary coding.</a:t>
                      </a: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 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07286652"/>
                  </a:ext>
                </a:extLst>
              </a:tr>
              <a:tr h="457212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u="none" dirty="0">
                          <a:effectLst/>
                        </a:rPr>
                        <a:t>Haar New Transform</a:t>
                      </a:r>
                      <a:endParaRPr lang="en-US" sz="1100" u="none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5727031"/>
                  </a:ext>
                </a:extLst>
              </a:tr>
            </a:tbl>
          </a:graphicData>
        </a:graphic>
      </p:graphicFrame>
      <p:pic>
        <p:nvPicPr>
          <p:cNvPr id="9" name="תמונה 8">
            <a:extLst>
              <a:ext uri="{FF2B5EF4-FFF2-40B4-BE49-F238E27FC236}">
                <a16:creationId xmlns:a16="http://schemas.microsoft.com/office/drawing/2014/main" id="{390C8447-A05E-F164-7728-C7F00286A4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143" y="7150526"/>
            <a:ext cx="1475463" cy="118787"/>
          </a:xfrm>
          <a:prstGeom prst="rect">
            <a:avLst/>
          </a:prstGeom>
        </p:spPr>
      </p:pic>
      <p:sp>
        <p:nvSpPr>
          <p:cNvPr id="10" name="תיבת טקסט 9">
            <a:extLst>
              <a:ext uri="{FF2B5EF4-FFF2-40B4-BE49-F238E27FC236}">
                <a16:creationId xmlns:a16="http://schemas.microsoft.com/office/drawing/2014/main" id="{AA55D936-FF51-0410-300D-75A20C5E0F9E}"/>
              </a:ext>
            </a:extLst>
          </p:cNvPr>
          <p:cNvSpPr txBox="1"/>
          <p:nvPr/>
        </p:nvSpPr>
        <p:spPr>
          <a:xfrm>
            <a:off x="437143" y="7136618"/>
            <a:ext cx="1457302" cy="15424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1" name="חץ: ימינה 10">
            <a:extLst>
              <a:ext uri="{FF2B5EF4-FFF2-40B4-BE49-F238E27FC236}">
                <a16:creationId xmlns:a16="http://schemas.microsoft.com/office/drawing/2014/main" id="{78B7112A-AD3B-5275-1104-014E5B0E79DC}"/>
              </a:ext>
            </a:extLst>
          </p:cNvPr>
          <p:cNvSpPr/>
          <p:nvPr/>
        </p:nvSpPr>
        <p:spPr>
          <a:xfrm>
            <a:off x="1980540" y="7176078"/>
            <a:ext cx="639316" cy="1453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תמונה 21">
            <a:extLst>
              <a:ext uri="{FF2B5EF4-FFF2-40B4-BE49-F238E27FC236}">
                <a16:creationId xmlns:a16="http://schemas.microsoft.com/office/drawing/2014/main" id="{7C265335-37B6-A439-6B94-3DA6125056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99775" y="7242313"/>
            <a:ext cx="1976233" cy="660155"/>
          </a:xfrm>
          <a:prstGeom prst="rect">
            <a:avLst/>
          </a:prstGeom>
        </p:spPr>
      </p:pic>
      <p:pic>
        <p:nvPicPr>
          <p:cNvPr id="30" name="תמונה 29">
            <a:extLst>
              <a:ext uri="{FF2B5EF4-FFF2-40B4-BE49-F238E27FC236}">
                <a16:creationId xmlns:a16="http://schemas.microsoft.com/office/drawing/2014/main" id="{81E1AD87-4853-2C35-94C6-577ADCF1C45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1084" y="7150637"/>
            <a:ext cx="2052546" cy="689968"/>
          </a:xfrm>
          <a:prstGeom prst="rect">
            <a:avLst/>
          </a:prstGeom>
        </p:spPr>
      </p:pic>
      <p:sp>
        <p:nvSpPr>
          <p:cNvPr id="32" name="תיבת טקסט 31">
            <a:extLst>
              <a:ext uri="{FF2B5EF4-FFF2-40B4-BE49-F238E27FC236}">
                <a16:creationId xmlns:a16="http://schemas.microsoft.com/office/drawing/2014/main" id="{4501819F-64CC-D255-47C5-F30C52F64D57}"/>
              </a:ext>
            </a:extLst>
          </p:cNvPr>
          <p:cNvSpPr txBox="1"/>
          <p:nvPr/>
        </p:nvSpPr>
        <p:spPr>
          <a:xfrm>
            <a:off x="4699155" y="6996834"/>
            <a:ext cx="98820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i="1" dirty="0" err="1">
                <a:solidFill>
                  <a:schemeClr val="accent1"/>
                </a:solidFill>
                <a:effectLst/>
                <a:latin typeface="Arial" panose="020B0604020202020204" pitchFamily="34" charset="0"/>
              </a:rPr>
              <a:t>Haar</a:t>
            </a:r>
            <a:r>
              <a:rPr lang="en-US" sz="600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</a:rPr>
              <a:t> New Transform</a:t>
            </a:r>
            <a:r>
              <a:rPr lang="en-US" sz="600" b="1" i="0" strike="noStrike" baseline="0" dirty="0">
                <a:solidFill>
                  <a:schemeClr val="accent1"/>
                </a:solidFill>
                <a:latin typeface="SFSL1095"/>
              </a:rPr>
              <a:t>:</a:t>
            </a:r>
            <a:endParaRPr lang="en-US" sz="600" b="1" dirty="0">
              <a:solidFill>
                <a:schemeClr val="accent1"/>
              </a:solidFill>
            </a:endParaRPr>
          </a:p>
        </p:txBody>
      </p:sp>
      <p:sp>
        <p:nvSpPr>
          <p:cNvPr id="37" name="תיבת טקסט 36">
            <a:extLst>
              <a:ext uri="{FF2B5EF4-FFF2-40B4-BE49-F238E27FC236}">
                <a16:creationId xmlns:a16="http://schemas.microsoft.com/office/drawing/2014/main" id="{05618B04-D8F7-8709-5260-01218EE688D4}"/>
              </a:ext>
            </a:extLst>
          </p:cNvPr>
          <p:cNvSpPr txBox="1"/>
          <p:nvPr/>
        </p:nvSpPr>
        <p:spPr>
          <a:xfrm>
            <a:off x="2707080" y="7083312"/>
            <a:ext cx="69605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i="0" strike="noStrike" baseline="0" dirty="0">
                <a:solidFill>
                  <a:schemeClr val="accent1"/>
                </a:solidFill>
                <a:latin typeface="SFSL1095"/>
              </a:rPr>
              <a:t>Integer-</a:t>
            </a:r>
            <a:r>
              <a:rPr lang="en-US" sz="600" b="1" i="0" strike="noStrike" baseline="0" dirty="0" err="1">
                <a:solidFill>
                  <a:schemeClr val="accent1"/>
                </a:solidFill>
                <a:latin typeface="SFSL1095"/>
              </a:rPr>
              <a:t>Haar</a:t>
            </a:r>
            <a:r>
              <a:rPr lang="en-US" sz="600" b="1" i="0" strike="noStrike" baseline="0" dirty="0">
                <a:solidFill>
                  <a:schemeClr val="accent1"/>
                </a:solidFill>
                <a:latin typeface="SFSL1095"/>
              </a:rPr>
              <a:t>:</a:t>
            </a:r>
            <a:endParaRPr lang="en-US" sz="600" b="1" dirty="0">
              <a:solidFill>
                <a:schemeClr val="accent1"/>
              </a:solidFill>
            </a:endParaRPr>
          </a:p>
        </p:txBody>
      </p:sp>
      <p:sp>
        <p:nvSpPr>
          <p:cNvPr id="34" name="תיבת טקסט 33">
            <a:extLst>
              <a:ext uri="{FF2B5EF4-FFF2-40B4-BE49-F238E27FC236}">
                <a16:creationId xmlns:a16="http://schemas.microsoft.com/office/drawing/2014/main" id="{C4210229-7C1D-DB97-0619-45ADC98C5627}"/>
              </a:ext>
            </a:extLst>
          </p:cNvPr>
          <p:cNvSpPr txBox="1"/>
          <p:nvPr/>
        </p:nvSpPr>
        <p:spPr>
          <a:xfrm>
            <a:off x="2511290" y="9180722"/>
            <a:ext cx="3841829" cy="769130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9" name="תיבת טקסט 38">
            <a:extLst>
              <a:ext uri="{FF2B5EF4-FFF2-40B4-BE49-F238E27FC236}">
                <a16:creationId xmlns:a16="http://schemas.microsoft.com/office/drawing/2014/main" id="{75713DEC-AB2F-4F35-3570-1D0AC97B0784}"/>
              </a:ext>
            </a:extLst>
          </p:cNvPr>
          <p:cNvSpPr txBox="1"/>
          <p:nvPr/>
        </p:nvSpPr>
        <p:spPr>
          <a:xfrm>
            <a:off x="2680473" y="7067927"/>
            <a:ext cx="2018682" cy="7946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40" name="תיבת טקסט 39">
            <a:extLst>
              <a:ext uri="{FF2B5EF4-FFF2-40B4-BE49-F238E27FC236}">
                <a16:creationId xmlns:a16="http://schemas.microsoft.com/office/drawing/2014/main" id="{16715C6A-BEE1-D487-8BE5-7A98AF5BCEE5}"/>
              </a:ext>
            </a:extLst>
          </p:cNvPr>
          <p:cNvSpPr txBox="1"/>
          <p:nvPr/>
        </p:nvSpPr>
        <p:spPr>
          <a:xfrm>
            <a:off x="4706460" y="7010454"/>
            <a:ext cx="2040717" cy="87985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41" name="חץ: למטה 40">
            <a:extLst>
              <a:ext uri="{FF2B5EF4-FFF2-40B4-BE49-F238E27FC236}">
                <a16:creationId xmlns:a16="http://schemas.microsoft.com/office/drawing/2014/main" id="{3D45D43E-BA1B-F5B3-82A6-3936B3CA916A}"/>
              </a:ext>
            </a:extLst>
          </p:cNvPr>
          <p:cNvSpPr/>
          <p:nvPr/>
        </p:nvSpPr>
        <p:spPr>
          <a:xfrm>
            <a:off x="5768960" y="7903926"/>
            <a:ext cx="171095" cy="26771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תיבת טקסט 42">
            <a:extLst>
              <a:ext uri="{FF2B5EF4-FFF2-40B4-BE49-F238E27FC236}">
                <a16:creationId xmlns:a16="http://schemas.microsoft.com/office/drawing/2014/main" id="{1CEF0392-AAA6-E2A3-22D8-968F8542214B}"/>
              </a:ext>
            </a:extLst>
          </p:cNvPr>
          <p:cNvSpPr txBox="1"/>
          <p:nvPr/>
        </p:nvSpPr>
        <p:spPr>
          <a:xfrm>
            <a:off x="2659125" y="6988259"/>
            <a:ext cx="4143313" cy="926443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graphicFrame>
        <p:nvGraphicFramePr>
          <p:cNvPr id="58" name="טבלה 57">
            <a:extLst>
              <a:ext uri="{FF2B5EF4-FFF2-40B4-BE49-F238E27FC236}">
                <a16:creationId xmlns:a16="http://schemas.microsoft.com/office/drawing/2014/main" id="{55A8135B-5488-A08D-716E-F0D0846E33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7495892"/>
              </p:ext>
            </p:extLst>
          </p:nvPr>
        </p:nvGraphicFramePr>
        <p:xfrm>
          <a:off x="4141450" y="8199267"/>
          <a:ext cx="2519810" cy="89599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06299">
                  <a:extLst>
                    <a:ext uri="{9D8B030D-6E8A-4147-A177-3AD203B41FA5}">
                      <a16:colId xmlns:a16="http://schemas.microsoft.com/office/drawing/2014/main" val="4031532458"/>
                    </a:ext>
                  </a:extLst>
                </a:gridCol>
                <a:gridCol w="586096">
                  <a:extLst>
                    <a:ext uri="{9D8B030D-6E8A-4147-A177-3AD203B41FA5}">
                      <a16:colId xmlns:a16="http://schemas.microsoft.com/office/drawing/2014/main" val="1457485924"/>
                    </a:ext>
                  </a:extLst>
                </a:gridCol>
                <a:gridCol w="358140">
                  <a:extLst>
                    <a:ext uri="{9D8B030D-6E8A-4147-A177-3AD203B41FA5}">
                      <a16:colId xmlns:a16="http://schemas.microsoft.com/office/drawing/2014/main" val="1973839703"/>
                    </a:ext>
                  </a:extLst>
                </a:gridCol>
                <a:gridCol w="569275">
                  <a:extLst>
                    <a:ext uri="{9D8B030D-6E8A-4147-A177-3AD203B41FA5}">
                      <a16:colId xmlns:a16="http://schemas.microsoft.com/office/drawing/2014/main" val="1906404286"/>
                    </a:ext>
                  </a:extLst>
                </a:gridCol>
              </a:tblGrid>
              <a:tr h="38780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</a:rPr>
                        <a:t>         </a:t>
                      </a:r>
                      <a:r>
                        <a:rPr lang="en-US" sz="500" dirty="0">
                          <a:effectLst/>
                        </a:rPr>
                        <a:t>Compression algorithm</a:t>
                      </a:r>
                    </a:p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en-US" sz="500" dirty="0">
                          <a:effectLst/>
                        </a:rPr>
                      </a:br>
                      <a:r>
                        <a:rPr lang="en-US" sz="500" dirty="0" err="1">
                          <a:effectLst/>
                        </a:rPr>
                        <a:t>Haar</a:t>
                      </a:r>
                      <a:r>
                        <a:rPr lang="en-US" sz="500" dirty="0">
                          <a:effectLst/>
                        </a:rPr>
                        <a:t> algorithm</a:t>
                      </a:r>
                      <a:endParaRPr lang="en-US" sz="5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en-US" sz="900" dirty="0">
                          <a:effectLst/>
                        </a:rPr>
                      </a:br>
                      <a:r>
                        <a:rPr lang="en-US" sz="600" dirty="0">
                          <a:effectLst/>
                        </a:rPr>
                        <a:t>Elias code 𝑪𝜹  </a:t>
                      </a:r>
                      <a:endParaRPr lang="en-US" sz="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en-US" sz="900" dirty="0">
                          <a:effectLst/>
                        </a:rPr>
                      </a:br>
                      <a:r>
                        <a:rPr lang="en-US" sz="600" dirty="0">
                          <a:effectLst/>
                        </a:rPr>
                        <a:t>binary coding</a:t>
                      </a:r>
                      <a:endParaRPr lang="en-US" sz="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en-US" sz="900" dirty="0">
                          <a:effectLst/>
                        </a:rPr>
                      </a:br>
                      <a:r>
                        <a:rPr lang="en-US" sz="600" dirty="0">
                          <a:effectLst/>
                        </a:rPr>
                        <a:t>unary coding</a:t>
                      </a:r>
                      <a:endParaRPr lang="en-US" sz="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62124973"/>
                  </a:ext>
                </a:extLst>
              </a:tr>
              <a:tr h="192204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dirty="0" err="1">
                          <a:effectLst/>
                        </a:rPr>
                        <a:t>Haar</a:t>
                      </a:r>
                      <a:r>
                        <a:rPr lang="en-US" sz="700" dirty="0">
                          <a:effectLst/>
                        </a:rPr>
                        <a:t> integer: </a:t>
                      </a:r>
                      <a:br>
                        <a:rPr lang="en-US" sz="700" dirty="0">
                          <a:effectLst/>
                        </a:rPr>
                      </a:br>
                      <a:r>
                        <a:rPr lang="en-US" sz="700" dirty="0">
                          <a:effectLst/>
                        </a:rPr>
                        <a:t>bit size</a:t>
                      </a:r>
                      <a:endParaRPr lang="en-US" sz="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</a:rPr>
                        <a:t>97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</a:rPr>
                        <a:t>51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</a:rPr>
                        <a:t>2,062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6079145"/>
                  </a:ext>
                </a:extLst>
              </a:tr>
              <a:tr h="284858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u="sng" dirty="0" err="1">
                          <a:effectLst/>
                        </a:rPr>
                        <a:t>Haar</a:t>
                      </a:r>
                      <a:r>
                        <a:rPr lang="en-US" sz="700" u="sng" dirty="0">
                          <a:effectLst/>
                        </a:rPr>
                        <a:t> New Transform:</a:t>
                      </a:r>
                      <a:br>
                        <a:rPr lang="en-US" sz="700" u="sng" dirty="0">
                          <a:effectLst/>
                        </a:rPr>
                      </a:br>
                      <a:r>
                        <a:rPr lang="en-US" sz="700" u="sng" dirty="0">
                          <a:effectLst/>
                        </a:rPr>
                        <a:t> bit size</a:t>
                      </a:r>
                      <a:endParaRPr lang="en-US" sz="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</a:rPr>
                        <a:t>87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</a:rPr>
                        <a:t>51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</a:rPr>
                        <a:t>14,386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87606008"/>
                  </a:ext>
                </a:extLst>
              </a:tr>
            </a:tbl>
          </a:graphicData>
        </a:graphic>
      </p:graphicFrame>
      <p:cxnSp>
        <p:nvCxnSpPr>
          <p:cNvPr id="60" name="מחבר ישר 59">
            <a:extLst>
              <a:ext uri="{FF2B5EF4-FFF2-40B4-BE49-F238E27FC236}">
                <a16:creationId xmlns:a16="http://schemas.microsoft.com/office/drawing/2014/main" id="{FE74F668-A5AE-4F02-5A51-385504CC1FC0}"/>
              </a:ext>
            </a:extLst>
          </p:cNvPr>
          <p:cNvCxnSpPr>
            <a:cxnSpLocks/>
          </p:cNvCxnSpPr>
          <p:nvPr/>
        </p:nvCxnSpPr>
        <p:spPr>
          <a:xfrm>
            <a:off x="4145243" y="8222861"/>
            <a:ext cx="1036357" cy="34520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תמונה 62">
            <a:extLst>
              <a:ext uri="{FF2B5EF4-FFF2-40B4-BE49-F238E27FC236}">
                <a16:creationId xmlns:a16="http://schemas.microsoft.com/office/drawing/2014/main" id="{AAE3EFD4-8B7A-D61D-4963-451C6AE5789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6485" y="7845427"/>
            <a:ext cx="1591928" cy="920384"/>
          </a:xfrm>
          <a:prstGeom prst="rect">
            <a:avLst/>
          </a:prstGeom>
        </p:spPr>
      </p:pic>
      <p:pic>
        <p:nvPicPr>
          <p:cNvPr id="65" name="תמונה 64">
            <a:extLst>
              <a:ext uri="{FF2B5EF4-FFF2-40B4-BE49-F238E27FC236}">
                <a16:creationId xmlns:a16="http://schemas.microsoft.com/office/drawing/2014/main" id="{7D6F228C-8C45-6060-E791-3920B7C7076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7674" y="8171637"/>
            <a:ext cx="1591909" cy="929012"/>
          </a:xfrm>
          <a:prstGeom prst="rect">
            <a:avLst/>
          </a:prstGeom>
        </p:spPr>
      </p:pic>
      <p:pic>
        <p:nvPicPr>
          <p:cNvPr id="67" name="תמונה 66">
            <a:extLst>
              <a:ext uri="{FF2B5EF4-FFF2-40B4-BE49-F238E27FC236}">
                <a16:creationId xmlns:a16="http://schemas.microsoft.com/office/drawing/2014/main" id="{9397ECB9-5758-A191-81B3-8B261CEE7BC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6740" y="8813433"/>
            <a:ext cx="1682717" cy="1036228"/>
          </a:xfrm>
          <a:prstGeom prst="rect">
            <a:avLst/>
          </a:prstGeom>
        </p:spPr>
      </p:pic>
      <p:sp>
        <p:nvSpPr>
          <p:cNvPr id="71" name="תיבת טקסט 70">
            <a:extLst>
              <a:ext uri="{FF2B5EF4-FFF2-40B4-BE49-F238E27FC236}">
                <a16:creationId xmlns:a16="http://schemas.microsoft.com/office/drawing/2014/main" id="{C20B6973-05F4-9406-F056-DA419740DA1D}"/>
              </a:ext>
            </a:extLst>
          </p:cNvPr>
          <p:cNvSpPr txBox="1"/>
          <p:nvPr/>
        </p:nvSpPr>
        <p:spPr>
          <a:xfrm>
            <a:off x="240783" y="7827542"/>
            <a:ext cx="1666891" cy="94593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72" name="תיבת טקסט 71">
            <a:extLst>
              <a:ext uri="{FF2B5EF4-FFF2-40B4-BE49-F238E27FC236}">
                <a16:creationId xmlns:a16="http://schemas.microsoft.com/office/drawing/2014/main" id="{5D004286-7929-B811-B745-28ABE95BEB56}"/>
              </a:ext>
            </a:extLst>
          </p:cNvPr>
          <p:cNvSpPr txBox="1"/>
          <p:nvPr/>
        </p:nvSpPr>
        <p:spPr>
          <a:xfrm>
            <a:off x="1904548" y="8143344"/>
            <a:ext cx="1627306" cy="985597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73" name="תיבת טקסט 72">
            <a:extLst>
              <a:ext uri="{FF2B5EF4-FFF2-40B4-BE49-F238E27FC236}">
                <a16:creationId xmlns:a16="http://schemas.microsoft.com/office/drawing/2014/main" id="{A77B09CA-3F6D-E66B-FFE4-32751CFB3740}"/>
              </a:ext>
            </a:extLst>
          </p:cNvPr>
          <p:cNvSpPr txBox="1"/>
          <p:nvPr/>
        </p:nvSpPr>
        <p:spPr>
          <a:xfrm>
            <a:off x="217165" y="8791362"/>
            <a:ext cx="1690509" cy="1072346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75" name="חץ: שמאלה-ימינה 74">
            <a:extLst>
              <a:ext uri="{FF2B5EF4-FFF2-40B4-BE49-F238E27FC236}">
                <a16:creationId xmlns:a16="http://schemas.microsoft.com/office/drawing/2014/main" id="{22F7B87B-B4E4-3273-3223-2BB5CDB7A96C}"/>
              </a:ext>
            </a:extLst>
          </p:cNvPr>
          <p:cNvSpPr/>
          <p:nvPr/>
        </p:nvSpPr>
        <p:spPr>
          <a:xfrm>
            <a:off x="3623292" y="8488610"/>
            <a:ext cx="426720" cy="168007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תיבת טקסט 75">
            <a:extLst>
              <a:ext uri="{FF2B5EF4-FFF2-40B4-BE49-F238E27FC236}">
                <a16:creationId xmlns:a16="http://schemas.microsoft.com/office/drawing/2014/main" id="{8D7251EF-81EF-0993-0FE6-1580117FB3D8}"/>
              </a:ext>
            </a:extLst>
          </p:cNvPr>
          <p:cNvSpPr txBox="1"/>
          <p:nvPr/>
        </p:nvSpPr>
        <p:spPr>
          <a:xfrm>
            <a:off x="539784" y="6877981"/>
            <a:ext cx="1093068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1"/>
                </a:solidFill>
              </a:rPr>
              <a:t>(1)</a:t>
            </a:r>
            <a:r>
              <a:rPr lang="en-US" sz="900" dirty="0">
                <a:solidFill>
                  <a:schemeClr val="accent1"/>
                </a:solidFill>
              </a:rPr>
              <a:t>-Array example:</a:t>
            </a:r>
          </a:p>
        </p:txBody>
      </p:sp>
      <p:sp>
        <p:nvSpPr>
          <p:cNvPr id="78" name="תיבת טקסט 77">
            <a:extLst>
              <a:ext uri="{FF2B5EF4-FFF2-40B4-BE49-F238E27FC236}">
                <a16:creationId xmlns:a16="http://schemas.microsoft.com/office/drawing/2014/main" id="{DBAD0773-92B1-AF77-87E2-FBCFC1ECB7CB}"/>
              </a:ext>
            </a:extLst>
          </p:cNvPr>
          <p:cNvSpPr txBox="1"/>
          <p:nvPr/>
        </p:nvSpPr>
        <p:spPr>
          <a:xfrm>
            <a:off x="266485" y="7557225"/>
            <a:ext cx="205556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1"/>
                </a:solidFill>
              </a:rPr>
              <a:t>(4)</a:t>
            </a:r>
            <a:r>
              <a:rPr lang="en-US" sz="700" dirty="0">
                <a:solidFill>
                  <a:schemeClr val="accent1"/>
                </a:solidFill>
              </a:rPr>
              <a:t>-100K Array(2^3 </a:t>
            </a:r>
            <a:r>
              <a:rPr lang="en-US" sz="700" dirty="0">
                <a:solidFill>
                  <a:schemeClr val="accent1"/>
                </a:solidFill>
                <a:latin typeface="Assistant" pitchFamily="2" charset="-79"/>
                <a:cs typeface="Assistant" pitchFamily="2" charset="-79"/>
              </a:rPr>
              <a:t>variables)</a:t>
            </a:r>
            <a:r>
              <a:rPr lang="en-US" sz="700" dirty="0">
                <a:solidFill>
                  <a:schemeClr val="accent1"/>
                </a:solidFill>
              </a:rPr>
              <a:t> bit size  diagrams</a:t>
            </a:r>
          </a:p>
        </p:txBody>
      </p:sp>
      <p:sp>
        <p:nvSpPr>
          <p:cNvPr id="79" name="מלבן 78">
            <a:extLst>
              <a:ext uri="{FF2B5EF4-FFF2-40B4-BE49-F238E27FC236}">
                <a16:creationId xmlns:a16="http://schemas.microsoft.com/office/drawing/2014/main" id="{9BF92487-7D17-8541-6650-75DDF018007C}"/>
              </a:ext>
            </a:extLst>
          </p:cNvPr>
          <p:cNvSpPr/>
          <p:nvPr/>
        </p:nvSpPr>
        <p:spPr>
          <a:xfrm>
            <a:off x="1980540" y="9224783"/>
            <a:ext cx="127660" cy="131099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מלבן 79">
            <a:extLst>
              <a:ext uri="{FF2B5EF4-FFF2-40B4-BE49-F238E27FC236}">
                <a16:creationId xmlns:a16="http://schemas.microsoft.com/office/drawing/2014/main" id="{E094B73C-97AD-2FDB-28EE-88A58914A178}"/>
              </a:ext>
            </a:extLst>
          </p:cNvPr>
          <p:cNvSpPr/>
          <p:nvPr/>
        </p:nvSpPr>
        <p:spPr>
          <a:xfrm>
            <a:off x="1980540" y="9384174"/>
            <a:ext cx="127660" cy="131099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מלבן 80">
            <a:extLst>
              <a:ext uri="{FF2B5EF4-FFF2-40B4-BE49-F238E27FC236}">
                <a16:creationId xmlns:a16="http://schemas.microsoft.com/office/drawing/2014/main" id="{00008970-B621-B614-3C8E-F61F3E151A30}"/>
              </a:ext>
            </a:extLst>
          </p:cNvPr>
          <p:cNvSpPr/>
          <p:nvPr/>
        </p:nvSpPr>
        <p:spPr>
          <a:xfrm>
            <a:off x="1980540" y="9548209"/>
            <a:ext cx="127660" cy="121262"/>
          </a:xfrm>
          <a:prstGeom prst="rect">
            <a:avLst/>
          </a:prstGeom>
          <a:solidFill>
            <a:srgbClr val="38984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תיבת טקסט 81">
            <a:extLst>
              <a:ext uri="{FF2B5EF4-FFF2-40B4-BE49-F238E27FC236}">
                <a16:creationId xmlns:a16="http://schemas.microsoft.com/office/drawing/2014/main" id="{D547A08D-4467-491A-70CB-E1D85B0CF99A}"/>
              </a:ext>
            </a:extLst>
          </p:cNvPr>
          <p:cNvSpPr txBox="1"/>
          <p:nvPr/>
        </p:nvSpPr>
        <p:spPr>
          <a:xfrm>
            <a:off x="2022909" y="9367085"/>
            <a:ext cx="424252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 </a:t>
            </a:r>
            <a:r>
              <a:rPr lang="en-US" sz="400" dirty="0"/>
              <a:t>- Equals</a:t>
            </a:r>
          </a:p>
        </p:txBody>
      </p:sp>
      <p:sp>
        <p:nvSpPr>
          <p:cNvPr id="83" name="תיבת טקסט 82">
            <a:extLst>
              <a:ext uri="{FF2B5EF4-FFF2-40B4-BE49-F238E27FC236}">
                <a16:creationId xmlns:a16="http://schemas.microsoft.com/office/drawing/2014/main" id="{8182F867-0348-65F4-843E-A23D6A2D2AC5}"/>
              </a:ext>
            </a:extLst>
          </p:cNvPr>
          <p:cNvSpPr txBox="1"/>
          <p:nvPr/>
        </p:nvSpPr>
        <p:spPr>
          <a:xfrm>
            <a:off x="2028852" y="9193808"/>
            <a:ext cx="539871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 </a:t>
            </a:r>
            <a:r>
              <a:rPr lang="en-US" sz="400" dirty="0"/>
              <a:t>- </a:t>
            </a:r>
            <a:r>
              <a:rPr lang="en-US" sz="400" dirty="0" err="1"/>
              <a:t>Haar</a:t>
            </a:r>
            <a:r>
              <a:rPr lang="en-US" sz="400" dirty="0"/>
              <a:t> Integer</a:t>
            </a:r>
          </a:p>
        </p:txBody>
      </p:sp>
      <p:sp>
        <p:nvSpPr>
          <p:cNvPr id="84" name="תיבת טקסט 83">
            <a:extLst>
              <a:ext uri="{FF2B5EF4-FFF2-40B4-BE49-F238E27FC236}">
                <a16:creationId xmlns:a16="http://schemas.microsoft.com/office/drawing/2014/main" id="{DC5301D3-B7F2-2A2A-5AAA-62B01F8CAEA4}"/>
              </a:ext>
            </a:extLst>
          </p:cNvPr>
          <p:cNvSpPr txBox="1"/>
          <p:nvPr/>
        </p:nvSpPr>
        <p:spPr>
          <a:xfrm>
            <a:off x="2044701" y="9515273"/>
            <a:ext cx="6689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 </a:t>
            </a:r>
            <a:r>
              <a:rPr lang="en-US" sz="400" dirty="0"/>
              <a:t>- </a:t>
            </a:r>
            <a:r>
              <a:rPr lang="en-US" sz="400" dirty="0" err="1"/>
              <a:t>Haar</a:t>
            </a:r>
            <a:r>
              <a:rPr lang="en-US" sz="400" dirty="0"/>
              <a:t> New</a:t>
            </a:r>
            <a:br>
              <a:rPr lang="en-US" sz="400" dirty="0"/>
            </a:br>
            <a:r>
              <a:rPr lang="en-US" sz="400" dirty="0"/>
              <a:t> Transform</a:t>
            </a:r>
          </a:p>
        </p:txBody>
      </p:sp>
      <p:sp>
        <p:nvSpPr>
          <p:cNvPr id="6" name="תיבת טקסט 5">
            <a:extLst>
              <a:ext uri="{FF2B5EF4-FFF2-40B4-BE49-F238E27FC236}">
                <a16:creationId xmlns:a16="http://schemas.microsoft.com/office/drawing/2014/main" id="{FC86673C-3D4D-8623-59AF-6CF2B403653D}"/>
              </a:ext>
            </a:extLst>
          </p:cNvPr>
          <p:cNvSpPr txBox="1"/>
          <p:nvPr/>
        </p:nvSpPr>
        <p:spPr>
          <a:xfrm>
            <a:off x="3968459" y="6726168"/>
            <a:ext cx="1213141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1"/>
                </a:solidFill>
              </a:rPr>
              <a:t>(2)</a:t>
            </a:r>
            <a:r>
              <a:rPr lang="en-US" sz="900" dirty="0">
                <a:solidFill>
                  <a:schemeClr val="accent1"/>
                </a:solidFill>
              </a:rPr>
              <a:t>-</a:t>
            </a:r>
            <a:r>
              <a:rPr lang="en-US" sz="900" dirty="0" err="1">
                <a:solidFill>
                  <a:schemeClr val="accent1"/>
                </a:solidFill>
              </a:rPr>
              <a:t>Haar</a:t>
            </a:r>
            <a:r>
              <a:rPr lang="en-US" sz="900" dirty="0">
                <a:solidFill>
                  <a:schemeClr val="accent1"/>
                </a:solidFill>
              </a:rPr>
              <a:t> algorithms :</a:t>
            </a:r>
          </a:p>
        </p:txBody>
      </p:sp>
      <p:sp>
        <p:nvSpPr>
          <p:cNvPr id="54" name="תיבת טקסט 53">
            <a:extLst>
              <a:ext uri="{FF2B5EF4-FFF2-40B4-BE49-F238E27FC236}">
                <a16:creationId xmlns:a16="http://schemas.microsoft.com/office/drawing/2014/main" id="{C395D84B-7DC6-60C3-650A-1B4CC43A09CE}"/>
              </a:ext>
            </a:extLst>
          </p:cNvPr>
          <p:cNvSpPr txBox="1"/>
          <p:nvPr/>
        </p:nvSpPr>
        <p:spPr>
          <a:xfrm>
            <a:off x="4644871" y="7971394"/>
            <a:ext cx="1096769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1"/>
                </a:solidFill>
              </a:rPr>
              <a:t>(3)</a:t>
            </a:r>
            <a:r>
              <a:rPr lang="en-US" sz="700" dirty="0">
                <a:solidFill>
                  <a:schemeClr val="accent1"/>
                </a:solidFill>
              </a:rPr>
              <a:t>-bit size result table</a:t>
            </a:r>
          </a:p>
        </p:txBody>
      </p:sp>
      <p:sp>
        <p:nvSpPr>
          <p:cNvPr id="20" name="תיבת טקסט 19">
            <a:extLst>
              <a:ext uri="{FF2B5EF4-FFF2-40B4-BE49-F238E27FC236}">
                <a16:creationId xmlns:a16="http://schemas.microsoft.com/office/drawing/2014/main" id="{B02828D1-38D0-0A55-B2D0-F69660C70F51}"/>
              </a:ext>
            </a:extLst>
          </p:cNvPr>
          <p:cNvSpPr txBox="1"/>
          <p:nvPr/>
        </p:nvSpPr>
        <p:spPr>
          <a:xfrm>
            <a:off x="2070978" y="6097499"/>
            <a:ext cx="408598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dirty="0"/>
              <a:t>(1) </a:t>
            </a:r>
            <a:r>
              <a:rPr lang="en-US" sz="800" dirty="0"/>
              <a:t>Is a example of an array </a:t>
            </a:r>
            <a:r>
              <a:rPr lang="en-US" sz="800" b="1" dirty="0"/>
              <a:t>,(2) </a:t>
            </a:r>
            <a:r>
              <a:rPr lang="en-US" sz="800" dirty="0"/>
              <a:t>is the changes that each </a:t>
            </a:r>
            <a:r>
              <a:rPr lang="en-US" sz="800" dirty="0" err="1"/>
              <a:t>haar</a:t>
            </a:r>
            <a:r>
              <a:rPr lang="en-US" sz="800" dirty="0"/>
              <a:t> algorithm performs on the array variables,</a:t>
            </a:r>
            <a:r>
              <a:rPr lang="en-US" sz="800" b="1" dirty="0"/>
              <a:t> (3) </a:t>
            </a:r>
            <a:r>
              <a:rPr lang="en-US" sz="800" dirty="0"/>
              <a:t>a table contain the size of the compressed massage for each algorithm ,</a:t>
            </a:r>
            <a:r>
              <a:rPr lang="en-US" sz="800" b="1" dirty="0"/>
              <a:t>(4) </a:t>
            </a:r>
            <a:r>
              <a:rPr lang="en-US" sz="800" dirty="0"/>
              <a:t>contain the result of the better </a:t>
            </a:r>
            <a:r>
              <a:rPr lang="en-US" sz="800" dirty="0" err="1"/>
              <a:t>Haar</a:t>
            </a:r>
            <a:r>
              <a:rPr lang="en-US" sz="800" dirty="0"/>
              <a:t> algorithm for each compression in a 100k random arrays</a:t>
            </a:r>
          </a:p>
        </p:txBody>
      </p:sp>
    </p:spTree>
    <p:extLst>
      <p:ext uri="{BB962C8B-B14F-4D97-AF65-F5344CB8AC3E}">
        <p14:creationId xmlns:p14="http://schemas.microsoft.com/office/powerpoint/2010/main" val="1321684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2799</TotalTime>
  <Words>365</Words>
  <Application>Microsoft Office PowerPoint</Application>
  <PresentationFormat>מותאם אישית</PresentationFormat>
  <Paragraphs>55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5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7" baseType="lpstr">
      <vt:lpstr>Arial</vt:lpstr>
      <vt:lpstr>Assistant</vt:lpstr>
      <vt:lpstr>Calibri</vt:lpstr>
      <vt:lpstr>Calibri Light</vt:lpstr>
      <vt:lpstr>SFSL1095</vt:lpstr>
      <vt:lpstr>Office Theme</vt:lpstr>
      <vt:lpstr>מצגת של PowerPoint‏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yogi zor</dc:creator>
  <cp:lastModifiedBy>lio berni</cp:lastModifiedBy>
  <cp:revision>44</cp:revision>
  <dcterms:created xsi:type="dcterms:W3CDTF">2020-05-21T09:41:20Z</dcterms:created>
  <dcterms:modified xsi:type="dcterms:W3CDTF">2022-05-26T09:21:44Z</dcterms:modified>
</cp:coreProperties>
</file>