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7" r:id="rId2"/>
  </p:sldIdLst>
  <p:sldSz cx="6858000" cy="10080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86" autoAdjust="0"/>
    <p:restoredTop sz="94660"/>
  </p:normalViewPr>
  <p:slideViewPr>
    <p:cSldViewPr snapToGrid="0">
      <p:cViewPr>
        <p:scale>
          <a:sx n="125" d="100"/>
          <a:sy n="125" d="100"/>
        </p:scale>
        <p:origin x="810" y="-32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49770"/>
            <a:ext cx="5829300" cy="3509551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94662"/>
            <a:ext cx="5143500" cy="243381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5/22/2022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87130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5/22/2022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05038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513159"/>
            <a:ext cx="5915025" cy="419325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746088"/>
            <a:ext cx="5915025" cy="2205136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5/22/2022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50259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83500"/>
            <a:ext cx="2914650" cy="63960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83500"/>
            <a:ext cx="2914650" cy="63960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5/22/2022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3865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36702"/>
            <a:ext cx="5915025" cy="194845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71154"/>
            <a:ext cx="2901255" cy="121107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82228"/>
            <a:ext cx="2901255" cy="54160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71154"/>
            <a:ext cx="2915543" cy="121107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82228"/>
            <a:ext cx="2915543" cy="54160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5/22/2022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6554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5/22/2022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0886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5/22/2022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44157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72042"/>
            <a:ext cx="2211884" cy="2352146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51426"/>
            <a:ext cx="3471863" cy="716377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024188"/>
            <a:ext cx="2211884" cy="560268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5/22/2022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21213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72042"/>
            <a:ext cx="2211884" cy="2352146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51426"/>
            <a:ext cx="3471863" cy="7163777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024188"/>
            <a:ext cx="2211884" cy="560268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5/22/2022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82691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5/22/2022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25233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36700"/>
            <a:ext cx="1478756" cy="854286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36700"/>
            <a:ext cx="4350544" cy="854286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5/22/2022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2480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36702"/>
            <a:ext cx="5915025" cy="1948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83500"/>
            <a:ext cx="5915025" cy="6396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343248"/>
            <a:ext cx="1543050" cy="5367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EE89F4-C31D-45E3-BFAA-D8E8790DFB86}" type="datetimeFigureOut">
              <a:rPr lang="en-US" smtClean="0"/>
              <a:t>5/22/2022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343248"/>
            <a:ext cx="2314575" cy="5367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343248"/>
            <a:ext cx="1543050" cy="5367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7370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כותרת משנה 2"/>
          <p:cNvSpPr>
            <a:spLocks noGrp="1"/>
          </p:cNvSpPr>
          <p:nvPr>
            <p:ph type="subTitle" idx="1"/>
          </p:nvPr>
        </p:nvSpPr>
        <p:spPr>
          <a:xfrm>
            <a:off x="1" y="0"/>
            <a:ext cx="6857999" cy="1283749"/>
          </a:xfr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>
            <a:normAutofit fontScale="92500" lnSpcReduction="20000"/>
          </a:bodyPr>
          <a:lstStyle/>
          <a:p>
            <a:pPr defTabSz="951583"/>
            <a:br>
              <a:rPr lang="en-US" sz="1307" b="1" dirty="0">
                <a:solidFill>
                  <a:schemeClr val="tx1"/>
                </a:solidFill>
                <a:latin typeface="Calibri"/>
                <a:cs typeface="Arial"/>
              </a:rPr>
            </a:br>
            <a:br>
              <a:rPr lang="en-US" sz="1307" b="1" dirty="0">
                <a:solidFill>
                  <a:schemeClr val="tx1"/>
                </a:solidFill>
                <a:latin typeface="Calibri"/>
                <a:cs typeface="Arial"/>
              </a:rPr>
            </a:br>
            <a:r>
              <a:rPr lang="en-US" sz="1307" b="1" dirty="0">
                <a:solidFill>
                  <a:schemeClr val="tx1"/>
                </a:solidFill>
                <a:latin typeface="Calibri"/>
                <a:cs typeface="Arial"/>
              </a:rPr>
              <a:t>       </a:t>
            </a:r>
            <a:r>
              <a:rPr lang="en-US" sz="1900" b="1" dirty="0">
                <a:solidFill>
                  <a:schemeClr val="tx1"/>
                </a:solidFill>
                <a:latin typeface="Calibri"/>
                <a:cs typeface="Arial"/>
              </a:rPr>
              <a:t>Data Compression – </a:t>
            </a:r>
            <a:r>
              <a:rPr lang="en-US" b="1" dirty="0">
                <a:solidFill>
                  <a:schemeClr val="tx1"/>
                </a:solidFill>
                <a:latin typeface="Calibri"/>
                <a:cs typeface="Arial"/>
              </a:rPr>
              <a:t>Comparing</a:t>
            </a:r>
            <a:r>
              <a:rPr lang="en-US" sz="1900" b="1" dirty="0">
                <a:solidFill>
                  <a:schemeClr val="tx1"/>
                </a:solidFill>
                <a:latin typeface="Calibri"/>
                <a:cs typeface="Arial"/>
              </a:rPr>
              <a:t> </a:t>
            </a:r>
            <a:r>
              <a:rPr lang="en-US" sz="1900" b="1" dirty="0" err="1">
                <a:solidFill>
                  <a:schemeClr val="tx1"/>
                </a:solidFill>
                <a:latin typeface="Calibri"/>
                <a:cs typeface="Arial"/>
              </a:rPr>
              <a:t>Haar’s</a:t>
            </a:r>
            <a:r>
              <a:rPr lang="en-US" sz="1900" b="1" dirty="0">
                <a:solidFill>
                  <a:schemeClr val="tx1"/>
                </a:solidFill>
                <a:latin typeface="Calibri"/>
                <a:cs typeface="Arial"/>
              </a:rPr>
              <a:t> Algorithms</a:t>
            </a:r>
            <a:br>
              <a:rPr lang="en-US" sz="1307" b="1" dirty="0">
                <a:solidFill>
                  <a:schemeClr val="tx1"/>
                </a:solidFill>
                <a:latin typeface="Calibri"/>
                <a:cs typeface="Arial"/>
              </a:rPr>
            </a:br>
            <a:endParaRPr lang="en-US" sz="1307" b="1" dirty="0">
              <a:solidFill>
                <a:schemeClr val="tx1"/>
              </a:solidFill>
              <a:latin typeface="Calibri"/>
              <a:cs typeface="Arial"/>
            </a:endParaRPr>
          </a:p>
          <a:p>
            <a:pPr defTabSz="951583"/>
            <a:r>
              <a:rPr lang="en-US" sz="1307" b="1" dirty="0">
                <a:solidFill>
                  <a:schemeClr val="tx1"/>
                </a:solidFill>
                <a:latin typeface="Calibri"/>
                <a:cs typeface="Arial"/>
              </a:rPr>
              <a:t>Presenters: </a:t>
            </a:r>
            <a:r>
              <a:rPr lang="en-US" sz="1307" b="1" dirty="0" err="1">
                <a:solidFill>
                  <a:schemeClr val="tx1"/>
                </a:solidFill>
                <a:latin typeface="Calibri"/>
                <a:cs typeface="Arial"/>
              </a:rPr>
              <a:t>Liel</a:t>
            </a:r>
            <a:r>
              <a:rPr lang="en-US" sz="1307" b="1" dirty="0">
                <a:solidFill>
                  <a:schemeClr val="tx1"/>
                </a:solidFill>
                <a:latin typeface="Calibri"/>
                <a:cs typeface="Arial"/>
              </a:rPr>
              <a:t> </a:t>
            </a:r>
            <a:r>
              <a:rPr lang="en-US" sz="1307" b="1" dirty="0" err="1">
                <a:solidFill>
                  <a:schemeClr val="tx1"/>
                </a:solidFill>
                <a:latin typeface="Calibri"/>
                <a:cs typeface="Arial"/>
              </a:rPr>
              <a:t>Berniker</a:t>
            </a:r>
            <a:r>
              <a:rPr lang="en-US" sz="1307" b="1" dirty="0">
                <a:solidFill>
                  <a:schemeClr val="tx1"/>
                </a:solidFill>
                <a:latin typeface="Calibri"/>
                <a:cs typeface="Arial"/>
              </a:rPr>
              <a:t>, Noy </a:t>
            </a:r>
            <a:r>
              <a:rPr lang="en-US" sz="1307" b="1" dirty="0" err="1">
                <a:solidFill>
                  <a:schemeClr val="tx1"/>
                </a:solidFill>
                <a:latin typeface="Calibri"/>
                <a:cs typeface="Arial"/>
              </a:rPr>
              <a:t>Osi</a:t>
            </a:r>
            <a:r>
              <a:rPr lang="en-US" sz="1307" b="1" dirty="0">
                <a:solidFill>
                  <a:schemeClr val="tx1"/>
                </a:solidFill>
                <a:latin typeface="Calibri"/>
                <a:cs typeface="Arial"/>
              </a:rPr>
              <a:t>, Dvir Segal</a:t>
            </a:r>
            <a:br>
              <a:rPr lang="en-US" sz="1307" b="1" dirty="0">
                <a:solidFill>
                  <a:schemeClr val="tx1"/>
                </a:solidFill>
                <a:latin typeface="Calibri"/>
                <a:cs typeface="Arial"/>
              </a:rPr>
            </a:br>
            <a:r>
              <a:rPr lang="en-US" sz="1307" b="1" dirty="0">
                <a:solidFill>
                  <a:schemeClr val="tx1"/>
                </a:solidFill>
                <a:latin typeface="Calibri"/>
                <a:cs typeface="Arial"/>
              </a:rPr>
              <a:t>Instructor: Prof. Dana Shapira</a:t>
            </a:r>
            <a:br>
              <a:rPr lang="en-US" sz="1307" b="1" dirty="0">
                <a:solidFill>
                  <a:schemeClr val="tx1"/>
                </a:solidFill>
                <a:latin typeface="Calibri"/>
                <a:cs typeface="Arial"/>
              </a:rPr>
            </a:br>
            <a:endParaRPr lang="he-IL" sz="1307" b="1" dirty="0">
              <a:solidFill>
                <a:schemeClr val="tx1"/>
              </a:solidFill>
              <a:latin typeface="Calibri"/>
              <a:cs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-244880" y="5002000"/>
            <a:ext cx="184730" cy="173766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rtl="1"/>
            <a:endParaRPr lang="he-IL" sz="490" dirty="0"/>
          </a:p>
        </p:txBody>
      </p:sp>
      <p:sp>
        <p:nvSpPr>
          <p:cNvPr id="12" name="Rounded Rectangle 6"/>
          <p:cNvSpPr/>
          <p:nvPr/>
        </p:nvSpPr>
        <p:spPr>
          <a:xfrm>
            <a:off x="3539366" y="1502750"/>
            <a:ext cx="3152036" cy="2349321"/>
          </a:xfrm>
          <a:prstGeom prst="roundRect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1" anchor="t"/>
          <a:lstStyle/>
          <a:p>
            <a:pPr>
              <a:defRPr/>
            </a:pPr>
            <a:r>
              <a:rPr lang="en-US" sz="1400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2. Introduction:</a:t>
            </a:r>
          </a:p>
          <a:p>
            <a:pPr>
              <a:defRPr/>
            </a:pPr>
            <a:r>
              <a:rPr lang="en-US" sz="1050" i="0" dirty="0">
                <a:solidFill>
                  <a:srgbClr val="202124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Data compression is the process of encoding, restructuring or otherwise modifying data in order to reduce its size</a:t>
            </a:r>
            <a:r>
              <a:rPr lang="en-US" sz="1050" i="0" dirty="0">
                <a:solidFill>
                  <a:prstClr val="black"/>
                </a:solidFill>
                <a:effectLst/>
                <a:latin typeface="Arial" panose="020B0604020202020204" pitchFamily="34" charset="0"/>
                <a:ea typeface="Tahoma" pitchFamily="34" charset="0"/>
                <a:cs typeface="Arial" pitchFamily="34" charset="0"/>
              </a:rPr>
              <a:t>.</a:t>
            </a:r>
          </a:p>
          <a:p>
            <a:pPr>
              <a:defRPr/>
            </a:pPr>
            <a:r>
              <a:rPr lang="en-US" sz="1050" dirty="0">
                <a:solidFill>
                  <a:prstClr val="black"/>
                </a:solidFill>
                <a:latin typeface="Arial" panose="020B0604020202020204" pitchFamily="34" charset="0"/>
                <a:ea typeface="Tahoma" pitchFamily="34" charset="0"/>
                <a:cs typeface="Arial" pitchFamily="34" charset="0"/>
              </a:rPr>
              <a:t>In our </a:t>
            </a:r>
            <a:r>
              <a:rPr lang="en-US" sz="1050" i="0" dirty="0">
                <a:solidFill>
                  <a:srgbClr val="202124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Data compression </a:t>
            </a:r>
            <a:r>
              <a:rPr lang="en-US" sz="1050" dirty="0">
                <a:solidFill>
                  <a:prstClr val="black"/>
                </a:solidFill>
                <a:latin typeface="Arial" panose="020B0604020202020204" pitchFamily="34" charset="0"/>
                <a:ea typeface="Tahoma" pitchFamily="34" charset="0"/>
                <a:cs typeface="Arial" pitchFamily="34" charset="0"/>
              </a:rPr>
              <a:t>research we specified at the </a:t>
            </a:r>
            <a:r>
              <a:rPr lang="en-US" sz="1050" i="0" u="none" strike="noStrike" baseline="0" dirty="0" err="1">
                <a:latin typeface="Arial" panose="020B0604020202020204" pitchFamily="34" charset="0"/>
                <a:cs typeface="Arial" panose="020B0604020202020204" pitchFamily="34" charset="0"/>
              </a:rPr>
              <a:t>Haar</a:t>
            </a:r>
            <a:r>
              <a:rPr lang="en-US" sz="1050" i="0" u="none" strike="noStrike" baseline="0" dirty="0">
                <a:latin typeface="Arial" panose="020B0604020202020204" pitchFamily="34" charset="0"/>
                <a:cs typeface="Arial" panose="020B0604020202020204" pitchFamily="34" charset="0"/>
              </a:rPr>
              <a:t> wavelet transform ,which is a simple discrete transform.</a:t>
            </a:r>
          </a:p>
          <a:p>
            <a:pPr>
              <a:defRPr/>
            </a:pPr>
            <a:r>
              <a:rPr lang="en-US" sz="1050" dirty="0">
                <a:solidFill>
                  <a:prstClr val="black"/>
                </a:solidFill>
                <a:latin typeface="Arial" panose="020B0604020202020204" pitchFamily="34" charset="0"/>
                <a:ea typeface="Tahoma" pitchFamily="34" charset="0"/>
                <a:cs typeface="Arial" panose="020B0604020202020204" pitchFamily="34" charset="0"/>
              </a:rPr>
              <a:t>We compare 2 main </a:t>
            </a:r>
            <a:r>
              <a:rPr lang="en-US" sz="1050" dirty="0" err="1">
                <a:solidFill>
                  <a:prstClr val="black"/>
                </a:solidFill>
                <a:latin typeface="Arial" panose="020B0604020202020204" pitchFamily="34" charset="0"/>
                <a:ea typeface="Tahoma" pitchFamily="34" charset="0"/>
                <a:cs typeface="Arial" panose="020B0604020202020204" pitchFamily="34" charset="0"/>
              </a:rPr>
              <a:t>Haar</a:t>
            </a:r>
            <a:r>
              <a:rPr lang="en-US" sz="1050" dirty="0">
                <a:solidFill>
                  <a:prstClr val="black"/>
                </a:solidFill>
                <a:latin typeface="Arial" panose="020B0604020202020204" pitchFamily="34" charset="0"/>
                <a:ea typeface="Tahoma" pitchFamily="34" charset="0"/>
                <a:cs typeface="Arial" panose="020B0604020202020204" pitchFamily="34" charset="0"/>
              </a:rPr>
              <a:t> </a:t>
            </a:r>
            <a:r>
              <a:rPr lang="en-US" sz="1050" dirty="0" err="1">
                <a:solidFill>
                  <a:prstClr val="black"/>
                </a:solidFill>
                <a:latin typeface="Arial" panose="020B0604020202020204" pitchFamily="34" charset="0"/>
                <a:ea typeface="Tahoma" pitchFamily="34" charset="0"/>
                <a:cs typeface="Arial" panose="020B0604020202020204" pitchFamily="34" charset="0"/>
              </a:rPr>
              <a:t>algorithems</a:t>
            </a:r>
            <a:r>
              <a:rPr lang="en-US" sz="1050" dirty="0">
                <a:solidFill>
                  <a:prstClr val="black"/>
                </a:solidFill>
                <a:latin typeface="Arial" panose="020B0604020202020204" pitchFamily="34" charset="0"/>
                <a:ea typeface="Tahoma" pitchFamily="34" charset="0"/>
                <a:cs typeface="Arial" panose="020B0604020202020204" pitchFamily="34" charset="0"/>
              </a:rPr>
              <a:t> which </a:t>
            </a:r>
            <a:r>
              <a:rPr lang="en-US" sz="1050" i="0" u="none" strike="noStrike" baseline="0" dirty="0">
                <a:latin typeface="Arial" panose="020B0604020202020204" pitchFamily="34" charset="0"/>
                <a:cs typeface="Arial" panose="020B0604020202020204" pitchFamily="34" charset="0"/>
              </a:rPr>
              <a:t>applied for lossless compression of integer sequences.</a:t>
            </a:r>
            <a:endParaRPr lang="en-US" sz="1050" dirty="0">
              <a:solidFill>
                <a:prstClr val="black"/>
              </a:solidFill>
              <a:latin typeface="Arial" pitchFamily="34" charset="0"/>
              <a:ea typeface="Tahoma" pitchFamily="34" charset="0"/>
              <a:cs typeface="Arial" pitchFamily="34" charset="0"/>
            </a:endParaRPr>
          </a:p>
          <a:p>
            <a:pPr>
              <a:defRPr/>
            </a:pPr>
            <a:r>
              <a:rPr lang="en-US" sz="1050" dirty="0" err="1">
                <a:solidFill>
                  <a:prstClr val="black"/>
                </a:solidFill>
                <a:latin typeface="Arial" panose="020B0604020202020204" pitchFamily="34" charset="0"/>
                <a:ea typeface="Tahoma" pitchFamily="34" charset="0"/>
                <a:cs typeface="Arial" pitchFamily="34" charset="0"/>
              </a:rPr>
              <a:t>Haar</a:t>
            </a:r>
            <a:r>
              <a:rPr lang="en-US" sz="1050" dirty="0">
                <a:solidFill>
                  <a:prstClr val="black"/>
                </a:solidFill>
                <a:latin typeface="Arial" panose="020B0604020202020204" pitchFamily="34" charset="0"/>
                <a:ea typeface="Tahoma" pitchFamily="34" charset="0"/>
                <a:cs typeface="Arial" pitchFamily="34" charset="0"/>
              </a:rPr>
              <a:t> Integer and </a:t>
            </a:r>
            <a:r>
              <a:rPr lang="en-US" sz="1050" dirty="0" err="1">
                <a:solidFill>
                  <a:prstClr val="black"/>
                </a:solidFill>
                <a:latin typeface="Arial" panose="020B0604020202020204" pitchFamily="34" charset="0"/>
                <a:ea typeface="Tahoma" pitchFamily="34" charset="0"/>
                <a:cs typeface="Arial" pitchFamily="34" charset="0"/>
              </a:rPr>
              <a:t>Haar</a:t>
            </a:r>
            <a:r>
              <a:rPr lang="en-US" sz="1050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 New Transform.</a:t>
            </a:r>
          </a:p>
          <a:p>
            <a:pPr>
              <a:defRPr/>
            </a:pPr>
            <a:r>
              <a:rPr lang="en-US" sz="1050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In discover of the optimal algorithms in different aspects.</a:t>
            </a:r>
            <a:endParaRPr lang="he-IL" sz="1050" dirty="0">
              <a:solidFill>
                <a:prstClr val="black"/>
              </a:solidFill>
              <a:latin typeface="Arial" pitchFamily="34" charset="0"/>
              <a:ea typeface="Tahoma" pitchFamily="34" charset="0"/>
              <a:cs typeface="Arial" pitchFamily="34" charset="0"/>
            </a:endParaRPr>
          </a:p>
        </p:txBody>
      </p:sp>
      <p:sp>
        <p:nvSpPr>
          <p:cNvPr id="17" name="Rounded Rectangle 6"/>
          <p:cNvSpPr/>
          <p:nvPr/>
        </p:nvSpPr>
        <p:spPr>
          <a:xfrm>
            <a:off x="166596" y="2841385"/>
            <a:ext cx="2944178" cy="2624578"/>
          </a:xfrm>
          <a:prstGeom prst="roundRect">
            <a:avLst/>
          </a:prstGeom>
          <a:ln w="381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1" anchor="t"/>
          <a:lstStyle/>
          <a:p>
            <a:pPr>
              <a:defRPr/>
            </a:pPr>
            <a:r>
              <a:rPr lang="he-IL" sz="1200" b="1" dirty="0">
                <a:latin typeface="Arial" pitchFamily="34" charset="0"/>
                <a:ea typeface="Tahoma" pitchFamily="34" charset="0"/>
                <a:cs typeface="Arial" pitchFamily="34" charset="0"/>
              </a:rPr>
              <a:t>3</a:t>
            </a:r>
            <a:r>
              <a:rPr lang="en-US" sz="1200" b="1" dirty="0">
                <a:latin typeface="Arial" pitchFamily="34" charset="0"/>
                <a:ea typeface="Tahoma" pitchFamily="34" charset="0"/>
                <a:cs typeface="Arial" pitchFamily="34" charset="0"/>
              </a:rPr>
              <a:t>. </a:t>
            </a:r>
            <a:r>
              <a:rPr lang="en-US" sz="1200" dirty="0"/>
              <a:t>Methods/algorithms/Alternatives or</a:t>
            </a:r>
            <a:br>
              <a:rPr lang="en-US" sz="1200" dirty="0"/>
            </a:br>
            <a:r>
              <a:rPr lang="en-US" sz="1200" dirty="0"/>
              <a:t>     Design Considerations:</a:t>
            </a:r>
          </a:p>
          <a:p>
            <a:pPr>
              <a:defRPr/>
            </a:pPr>
            <a:endParaRPr lang="en-US" sz="1200" dirty="0"/>
          </a:p>
          <a:p>
            <a:pPr>
              <a:defRPr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The Method we chose to implement the different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Haar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algorithems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were based on the article “New Compression Schemes for Natural Number Sequences” by Prof. Dana Shapira.</a:t>
            </a:r>
          </a:p>
          <a:p>
            <a:pPr>
              <a:defRPr/>
            </a:pPr>
            <a:r>
              <a:rPr lang="en-US" sz="1200" dirty="0">
                <a:latin typeface="Arial" panose="020B0604020202020204" pitchFamily="34" charset="0"/>
                <a:ea typeface="Tahoma" pitchFamily="34" charset="0"/>
                <a:cs typeface="Arial" pitchFamily="34" charset="0"/>
              </a:rPr>
              <a:t>The method to compare the </a:t>
            </a:r>
            <a:r>
              <a:rPr lang="en-US" sz="1200" b="0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efficiency</a:t>
            </a:r>
            <a:r>
              <a:rPr lang="en-US" sz="1200" dirty="0">
                <a:solidFill>
                  <a:srgbClr val="333333"/>
                </a:solidFill>
                <a:latin typeface="Arial" panose="020B0604020202020204" pitchFamily="34" charset="0"/>
                <a:ea typeface="Tahoma" pitchFamily="34" charset="0"/>
                <a:cs typeface="Arial" pitchFamily="34" charset="0"/>
              </a:rPr>
              <a:t> of the </a:t>
            </a:r>
            <a:r>
              <a:rPr lang="en-US" sz="1200" dirty="0" err="1">
                <a:solidFill>
                  <a:srgbClr val="333333"/>
                </a:solidFill>
                <a:latin typeface="Arial" panose="020B0604020202020204" pitchFamily="34" charset="0"/>
                <a:ea typeface="Tahoma" pitchFamily="34" charset="0"/>
                <a:cs typeface="Arial" pitchFamily="34" charset="0"/>
              </a:rPr>
              <a:t>algorihems</a:t>
            </a:r>
            <a:r>
              <a:rPr lang="en-US" sz="1200" dirty="0">
                <a:solidFill>
                  <a:srgbClr val="333333"/>
                </a:solidFill>
                <a:latin typeface="Arial" panose="020B0604020202020204" pitchFamily="34" charset="0"/>
                <a:ea typeface="Tahoma" pitchFamily="34" charset="0"/>
                <a:cs typeface="Arial" pitchFamily="34" charset="0"/>
              </a:rPr>
              <a:t> were to measure the bit size </a:t>
            </a:r>
            <a:r>
              <a:rPr lang="en-US" sz="1200" dirty="0" err="1">
                <a:solidFill>
                  <a:srgbClr val="333333"/>
                </a:solidFill>
                <a:latin typeface="Arial" panose="020B0604020202020204" pitchFamily="34" charset="0"/>
                <a:ea typeface="Tahoma" pitchFamily="34" charset="0"/>
                <a:cs typeface="Arial" pitchFamily="34" charset="0"/>
              </a:rPr>
              <a:t>compresed</a:t>
            </a:r>
            <a:r>
              <a:rPr lang="en-US" sz="1200" dirty="0">
                <a:solidFill>
                  <a:srgbClr val="333333"/>
                </a:solidFill>
                <a:latin typeface="Arial" panose="020B0604020202020204" pitchFamily="34" charset="0"/>
                <a:ea typeface="Tahoma" pitchFamily="34" charset="0"/>
                <a:cs typeface="Arial" pitchFamily="34" charset="0"/>
              </a:rPr>
              <a:t> massage each </a:t>
            </a:r>
            <a:r>
              <a:rPr lang="en-US" sz="1200" dirty="0" err="1">
                <a:solidFill>
                  <a:srgbClr val="333333"/>
                </a:solidFill>
                <a:latin typeface="Arial" panose="020B0604020202020204" pitchFamily="34" charset="0"/>
                <a:ea typeface="Tahoma" pitchFamily="34" charset="0"/>
                <a:cs typeface="Arial" pitchFamily="34" charset="0"/>
              </a:rPr>
              <a:t>algorithem</a:t>
            </a:r>
            <a:r>
              <a:rPr lang="en-US" sz="1200" dirty="0">
                <a:solidFill>
                  <a:srgbClr val="333333"/>
                </a:solidFill>
                <a:latin typeface="Arial" panose="020B0604020202020204" pitchFamily="34" charset="0"/>
                <a:ea typeface="Tahoma" pitchFamily="34" charset="0"/>
                <a:cs typeface="Arial" pitchFamily="34" charset="0"/>
              </a:rPr>
              <a:t> </a:t>
            </a:r>
            <a:r>
              <a:rPr lang="en-US" sz="1200" b="0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produce</a:t>
            </a:r>
            <a:r>
              <a:rPr lang="en-US" sz="1200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endParaRPr lang="en-US" sz="1200" dirty="0">
              <a:latin typeface="Arial" panose="020B0604020202020204" pitchFamily="34" charset="0"/>
              <a:ea typeface="Tahoma" pitchFamily="34" charset="0"/>
              <a:cs typeface="Arial" pitchFamily="34" charset="0"/>
            </a:endParaRPr>
          </a:p>
          <a:p>
            <a:pPr>
              <a:defRPr/>
            </a:pPr>
            <a:endParaRPr lang="en-US" sz="1200" b="1" dirty="0">
              <a:latin typeface="Arial" pitchFamily="34" charset="0"/>
              <a:ea typeface="Tahoma" pitchFamily="34" charset="0"/>
              <a:cs typeface="Arial" pitchFamily="34" charset="0"/>
            </a:endParaRPr>
          </a:p>
          <a:p>
            <a:pPr>
              <a:defRPr/>
            </a:pPr>
            <a:r>
              <a:rPr lang="en-US" sz="1200" b="1" dirty="0">
                <a:latin typeface="Arial" pitchFamily="34" charset="0"/>
                <a:ea typeface="Tahoma" pitchFamily="34" charset="0"/>
                <a:cs typeface="Arial" pitchFamily="34" charset="0"/>
              </a:rPr>
              <a:t>   </a:t>
            </a:r>
            <a:br>
              <a:rPr lang="en-US" sz="1200" b="1" dirty="0">
                <a:latin typeface="Arial" pitchFamily="34" charset="0"/>
                <a:ea typeface="Tahoma" pitchFamily="34" charset="0"/>
                <a:cs typeface="Arial" pitchFamily="34" charset="0"/>
              </a:rPr>
            </a:br>
            <a:r>
              <a:rPr lang="he-IL" sz="1200" b="1" dirty="0">
                <a:latin typeface="Arial" pitchFamily="34" charset="0"/>
                <a:ea typeface="Tahoma" pitchFamily="34" charset="0"/>
                <a:cs typeface="Arial" pitchFamily="34" charset="0"/>
              </a:rPr>
              <a:t> </a:t>
            </a:r>
            <a:endParaRPr lang="en-US" sz="1200" b="1" dirty="0">
              <a:latin typeface="Arial" pitchFamily="34" charset="0"/>
              <a:ea typeface="Tahoma" pitchFamily="34" charset="0"/>
              <a:cs typeface="Arial" pitchFamily="34" charset="0"/>
            </a:endParaRPr>
          </a:p>
        </p:txBody>
      </p:sp>
      <p:sp>
        <p:nvSpPr>
          <p:cNvPr id="29" name="Rounded Rectangle 6"/>
          <p:cNvSpPr/>
          <p:nvPr/>
        </p:nvSpPr>
        <p:spPr>
          <a:xfrm>
            <a:off x="3575954" y="4065750"/>
            <a:ext cx="3115448" cy="1466925"/>
          </a:xfrm>
          <a:prstGeom prst="roundRect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1" anchor="t"/>
          <a:lstStyle/>
          <a:p>
            <a:pPr algn="l">
              <a:defRPr/>
            </a:pPr>
            <a:r>
              <a:rPr lang="en-US" sz="1200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4. Selected Approach: </a:t>
            </a:r>
          </a:p>
          <a:p>
            <a:pPr algn="l">
              <a:defRPr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The </a:t>
            </a:r>
            <a:r>
              <a:rPr lang="en-US" sz="1200" dirty="0" err="1">
                <a:solidFill>
                  <a:schemeClr val="tx1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Haar</a:t>
            </a: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algorithems</a:t>
            </a: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 </a:t>
            </a:r>
            <a:r>
              <a:rPr lang="en-US" sz="1200" i="0" dirty="0">
                <a:solidFill>
                  <a:schemeClr val="tx1"/>
                </a:solidFill>
                <a:effectLst/>
                <a:latin typeface="Assistant" pitchFamily="2" charset="-79"/>
                <a:cs typeface="Assistant" pitchFamily="2" charset="-79"/>
              </a:rPr>
              <a:t>outcome were </a:t>
            </a:r>
            <a:r>
              <a:rPr lang="en-US" sz="1200" i="0" dirty="0" err="1">
                <a:solidFill>
                  <a:schemeClr val="tx1"/>
                </a:solidFill>
                <a:effectLst/>
                <a:latin typeface="Assistant" pitchFamily="2" charset="-79"/>
                <a:cs typeface="Assistant" pitchFamily="2" charset="-79"/>
              </a:rPr>
              <a:t>compresed</a:t>
            </a:r>
            <a:r>
              <a:rPr lang="en-US" sz="1200" i="0" dirty="0">
                <a:solidFill>
                  <a:schemeClr val="tx1"/>
                </a:solidFill>
                <a:effectLst/>
                <a:latin typeface="Assistant" pitchFamily="2" charset="-79"/>
                <a:cs typeface="Assistant" pitchFamily="2" charset="-79"/>
              </a:rPr>
              <a:t> by several different </a:t>
            </a:r>
            <a:r>
              <a:rPr lang="en-US" sz="1200" i="0" dirty="0" err="1">
                <a:solidFill>
                  <a:schemeClr val="tx1"/>
                </a:solidFill>
                <a:effectLst/>
                <a:latin typeface="Assistant" pitchFamily="2" charset="-79"/>
                <a:cs typeface="Assistant" pitchFamily="2" charset="-79"/>
              </a:rPr>
              <a:t>compertion</a:t>
            </a:r>
            <a:r>
              <a:rPr lang="en-US" sz="1200" i="0" dirty="0">
                <a:solidFill>
                  <a:schemeClr val="tx1"/>
                </a:solidFill>
                <a:effectLst/>
                <a:latin typeface="Assistant" pitchFamily="2" charset="-79"/>
                <a:cs typeface="Assistant" pitchFamily="2" charset="-79"/>
              </a:rPr>
              <a:t> </a:t>
            </a:r>
            <a:r>
              <a:rPr lang="en-US" sz="1200" i="0" dirty="0" err="1">
                <a:solidFill>
                  <a:schemeClr val="tx1"/>
                </a:solidFill>
                <a:effectLst/>
                <a:latin typeface="Assistant" pitchFamily="2" charset="-79"/>
                <a:cs typeface="Assistant" pitchFamily="2" charset="-79"/>
              </a:rPr>
              <a:t>algorithems</a:t>
            </a:r>
            <a:r>
              <a:rPr lang="en-US" sz="1200" i="0" dirty="0">
                <a:solidFill>
                  <a:schemeClr val="tx1"/>
                </a:solidFill>
                <a:effectLst/>
                <a:latin typeface="Assistant" pitchFamily="2" charset="-79"/>
                <a:cs typeface="Assistant" pitchFamily="2" charset="-79"/>
              </a:rPr>
              <a:t> such as : Elias code </a:t>
            </a:r>
            <a:r>
              <a:rPr lang="en-US" sz="1200" i="0" u="none" strike="noStrike" baseline="0" dirty="0">
                <a:solidFill>
                  <a:schemeClr val="tx1"/>
                </a:solidFill>
                <a:latin typeface="CambriaMath"/>
              </a:rPr>
              <a:t>𝑪𝜹 , binary coding and unary coding</a:t>
            </a:r>
            <a:endParaRPr lang="en-US" sz="1200" dirty="0">
              <a:solidFill>
                <a:schemeClr val="tx1"/>
              </a:solidFill>
              <a:latin typeface="Arial" pitchFamily="34" charset="0"/>
              <a:ea typeface="Tahoma" pitchFamily="34" charset="0"/>
              <a:cs typeface="Arial" pitchFamily="34" charset="0"/>
            </a:endParaRPr>
          </a:p>
          <a:p>
            <a:pPr algn="l">
              <a:defRPr/>
            </a:pPr>
            <a:r>
              <a:rPr lang="en-US" sz="1200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All the implementation were made in C++ </a:t>
            </a:r>
            <a:endParaRPr lang="he-IL" sz="1200" dirty="0">
              <a:solidFill>
                <a:prstClr val="black"/>
              </a:solidFill>
              <a:latin typeface="Arial" pitchFamily="34" charset="0"/>
              <a:ea typeface="Tahoma" pitchFamily="34" charset="0"/>
              <a:cs typeface="Arial" pitchFamily="34" charset="0"/>
            </a:endParaRPr>
          </a:p>
        </p:txBody>
      </p:sp>
      <p:sp>
        <p:nvSpPr>
          <p:cNvPr id="36" name="Rounded Rectangle 6"/>
          <p:cNvSpPr/>
          <p:nvPr/>
        </p:nvSpPr>
        <p:spPr>
          <a:xfrm>
            <a:off x="166597" y="5746355"/>
            <a:ext cx="6524805" cy="4123403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1" anchor="t"/>
          <a:lstStyle/>
          <a:p>
            <a:pPr rtl="1">
              <a:defRPr/>
            </a:pPr>
            <a:r>
              <a:rPr lang="en-US" sz="1200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5. Solution Description (Algorithms, Modulation, Patterns, Infrastructure, UI</a:t>
            </a:r>
            <a:r>
              <a:rPr lang="en-US" sz="120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,   </a:t>
            </a:r>
            <a:br>
              <a:rPr lang="en-US" sz="120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</a:br>
            <a:r>
              <a:rPr lang="en-US" sz="120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     Functionality</a:t>
            </a:r>
            <a:r>
              <a:rPr lang="en-US" sz="1200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)</a:t>
            </a:r>
            <a:endParaRPr lang="he-IL" sz="1200" dirty="0">
              <a:solidFill>
                <a:prstClr val="black"/>
              </a:solidFill>
              <a:latin typeface="Arial" pitchFamily="34" charset="0"/>
              <a:ea typeface="Tahoma" pitchFamily="34" charset="0"/>
              <a:cs typeface="Arial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556292" y="9124806"/>
            <a:ext cx="750659" cy="209609"/>
          </a:xfrm>
          <a:prstGeom prst="rect">
            <a:avLst/>
          </a:prstGeom>
          <a:solidFill>
            <a:srgbClr val="FFFFFF">
              <a:alpha val="50196"/>
            </a:srgbClr>
          </a:solidFill>
        </p:spPr>
        <p:txBody>
          <a:bodyPr wrap="square" rtlCol="1">
            <a:spAutoFit/>
          </a:bodyPr>
          <a:lstStyle/>
          <a:p>
            <a:pPr algn="ctr"/>
            <a:r>
              <a:rPr lang="en-US" sz="762" dirty="0">
                <a:latin typeface="Arial" pitchFamily="34" charset="0"/>
                <a:cs typeface="Arial" pitchFamily="34" charset="0"/>
              </a:rPr>
              <a:t>Visit Us</a:t>
            </a:r>
            <a:endParaRPr lang="he-IL" sz="762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14" name="Arrow: Left 13">
            <a:extLst>
              <a:ext uri="{FF2B5EF4-FFF2-40B4-BE49-F238E27FC236}">
                <a16:creationId xmlns:a16="http://schemas.microsoft.com/office/drawing/2014/main" id="{74739229-DA93-498A-93F3-E36AC736CA39}"/>
              </a:ext>
            </a:extLst>
          </p:cNvPr>
          <p:cNvSpPr/>
          <p:nvPr/>
        </p:nvSpPr>
        <p:spPr>
          <a:xfrm rot="10800000">
            <a:off x="3141383" y="1911601"/>
            <a:ext cx="397983" cy="241730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4882" tIns="12440" rIns="24882" bIns="1244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 rtl="1"/>
            <a:endParaRPr lang="en-US" sz="49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B5ACDA5A-2EDD-4539-A5A7-1A7E2E4C029F}"/>
              </a:ext>
            </a:extLst>
          </p:cNvPr>
          <p:cNvSpPr/>
          <p:nvPr/>
        </p:nvSpPr>
        <p:spPr>
          <a:xfrm rot="10800000">
            <a:off x="3141382" y="3221338"/>
            <a:ext cx="397984" cy="24172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4882" tIns="12440" rIns="24882" bIns="1244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 rtl="1"/>
            <a:endParaRPr lang="en-US" sz="490"/>
          </a:p>
        </p:txBody>
      </p:sp>
      <p:sp>
        <p:nvSpPr>
          <p:cNvPr id="52" name="Arrow: Left 51">
            <a:extLst>
              <a:ext uri="{FF2B5EF4-FFF2-40B4-BE49-F238E27FC236}">
                <a16:creationId xmlns:a16="http://schemas.microsoft.com/office/drawing/2014/main" id="{B42B5E19-1352-4CD7-BA33-5F59FA87A388}"/>
              </a:ext>
            </a:extLst>
          </p:cNvPr>
          <p:cNvSpPr/>
          <p:nvPr/>
        </p:nvSpPr>
        <p:spPr>
          <a:xfrm rot="10800000">
            <a:off x="3126077" y="4436621"/>
            <a:ext cx="434574" cy="241728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4882" tIns="12440" rIns="24882" bIns="1244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 rtl="1"/>
            <a:endParaRPr lang="en-US" sz="490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934A1CC8-3731-4427-9E37-E524BEB70E91}"/>
              </a:ext>
            </a:extLst>
          </p:cNvPr>
          <p:cNvSpPr/>
          <p:nvPr/>
        </p:nvSpPr>
        <p:spPr>
          <a:xfrm>
            <a:off x="1701800" y="5446552"/>
            <a:ext cx="236752" cy="29981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4882" tIns="12440" rIns="24882" bIns="1244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 rtl="1"/>
            <a:endParaRPr lang="en-US" sz="490"/>
          </a:p>
        </p:txBody>
      </p:sp>
      <p:sp>
        <p:nvSpPr>
          <p:cNvPr id="18" name="Rounded Rectangle 6">
            <a:extLst>
              <a:ext uri="{FF2B5EF4-FFF2-40B4-BE49-F238E27FC236}">
                <a16:creationId xmlns:a16="http://schemas.microsoft.com/office/drawing/2014/main" id="{833CA314-16B2-48AE-972C-270F5704890A}"/>
              </a:ext>
            </a:extLst>
          </p:cNvPr>
          <p:cNvSpPr/>
          <p:nvPr/>
        </p:nvSpPr>
        <p:spPr>
          <a:xfrm>
            <a:off x="197204" y="1516650"/>
            <a:ext cx="2944177" cy="1105544"/>
          </a:xfrm>
          <a:prstGeom prst="roundRect">
            <a:avLst/>
          </a:prstGeom>
          <a:ln w="381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1" anchor="t"/>
          <a:lstStyle/>
          <a:p>
            <a:pPr>
              <a:buFontTx/>
              <a:buAutoNum type="arabicPeriod"/>
              <a:defRPr/>
            </a:pPr>
            <a:r>
              <a:rPr lang="en-US" sz="1600" dirty="0"/>
              <a:t>Contribution/project goal:   </a:t>
            </a:r>
          </a:p>
          <a:p>
            <a:pPr>
              <a:defRPr/>
            </a:pPr>
            <a:r>
              <a:rPr lang="en-US" sz="1400" dirty="0">
                <a:solidFill>
                  <a:prstClr val="black"/>
                </a:solidFill>
                <a:latin typeface="Arial" pitchFamily="34" charset="0"/>
                <a:ea typeface="Tahoma" pitchFamily="34" charset="0"/>
              </a:rPr>
              <a:t>Compare between different </a:t>
            </a:r>
            <a:r>
              <a:rPr lang="en-US" sz="1400" dirty="0" err="1">
                <a:solidFill>
                  <a:prstClr val="black"/>
                </a:solidFill>
                <a:latin typeface="Arial" pitchFamily="34" charset="0"/>
                <a:ea typeface="Tahoma" pitchFamily="34" charset="0"/>
              </a:rPr>
              <a:t>Haar</a:t>
            </a:r>
            <a:r>
              <a:rPr lang="en-US" sz="1400" dirty="0">
                <a:solidFill>
                  <a:prstClr val="black"/>
                </a:solidFill>
                <a:latin typeface="Arial" pitchFamily="34" charset="0"/>
                <a:ea typeface="Tahoma" pitchFamily="34" charset="0"/>
              </a:rPr>
              <a:t> algorithms in data compression and Discover the optimal one</a:t>
            </a:r>
            <a:endParaRPr lang="he-IL" sz="1400" dirty="0">
              <a:solidFill>
                <a:prstClr val="black"/>
              </a:solidFill>
              <a:latin typeface="Arial" pitchFamily="34" charset="0"/>
              <a:ea typeface="Tahoma" pitchFamily="34" charset="0"/>
            </a:endParaRPr>
          </a:p>
          <a:p>
            <a:pPr>
              <a:defRPr/>
            </a:pPr>
            <a:endParaRPr lang="en-US" sz="120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C49D1D0-6211-48F5-B887-977D5BA10AE3}"/>
              </a:ext>
            </a:extLst>
          </p:cNvPr>
          <p:cNvCxnSpPr>
            <a:cxnSpLocks/>
          </p:cNvCxnSpPr>
          <p:nvPr/>
        </p:nvCxnSpPr>
        <p:spPr>
          <a:xfrm>
            <a:off x="5219312" y="9513911"/>
            <a:ext cx="43726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F3F334E-0FC7-49AB-A5E6-5E33276B81C9}"/>
              </a:ext>
            </a:extLst>
          </p:cNvPr>
          <p:cNvSpPr txBox="1"/>
          <p:nvPr/>
        </p:nvSpPr>
        <p:spPr>
          <a:xfrm>
            <a:off x="2680469" y="9383106"/>
            <a:ext cx="251543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rtl="1"/>
            <a:r>
              <a:rPr lang="en-US" sz="1100" dirty="0"/>
              <a:t>Scan </a:t>
            </a:r>
            <a:r>
              <a:rPr lang="en-US" sz="1100" dirty="0" err="1"/>
              <a:t>QRCode</a:t>
            </a:r>
            <a:r>
              <a:rPr lang="en-US" sz="1100" dirty="0"/>
              <a:t> for full Instructions(</a:t>
            </a:r>
            <a:r>
              <a:rPr lang="en-US" sz="1100" dirty="0" err="1"/>
              <a:t>github</a:t>
            </a:r>
            <a:r>
              <a:rPr lang="en-US" sz="1100"/>
              <a:t>)</a:t>
            </a:r>
            <a:endParaRPr lang="en-US" sz="11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6CFC95C-2546-AA42-06DB-F6A83ED431C2}"/>
              </a:ext>
            </a:extLst>
          </p:cNvPr>
          <p:cNvSpPr/>
          <p:nvPr/>
        </p:nvSpPr>
        <p:spPr>
          <a:xfrm>
            <a:off x="5940055" y="240873"/>
            <a:ext cx="845495" cy="7278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/>
              <a:t>6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1EE06C4-1B62-4427-98E9-3F44949EBC0B}"/>
              </a:ext>
            </a:extLst>
          </p:cNvPr>
          <p:cNvSpPr/>
          <p:nvPr/>
        </p:nvSpPr>
        <p:spPr>
          <a:xfrm>
            <a:off x="-1717547" y="-4645382"/>
            <a:ext cx="62858" cy="15958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4882" tIns="12440" rIns="24882" bIns="1244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800" dirty="0"/>
          </a:p>
        </p:txBody>
      </p:sp>
      <p:pic>
        <p:nvPicPr>
          <p:cNvPr id="6" name="תמונה 5">
            <a:extLst>
              <a:ext uri="{FF2B5EF4-FFF2-40B4-BE49-F238E27FC236}">
                <a16:creationId xmlns:a16="http://schemas.microsoft.com/office/drawing/2014/main" id="{E6E5B8AC-6650-0A12-96E1-68DED619F6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5641"/>
            <a:ext cx="1158240" cy="883105"/>
          </a:xfrm>
          <a:prstGeom prst="rect">
            <a:avLst/>
          </a:prstGeom>
        </p:spPr>
      </p:pic>
      <p:pic>
        <p:nvPicPr>
          <p:cNvPr id="19" name="תמונה 18">
            <a:extLst>
              <a:ext uri="{FF2B5EF4-FFF2-40B4-BE49-F238E27FC236}">
                <a16:creationId xmlns:a16="http://schemas.microsoft.com/office/drawing/2014/main" id="{C73F2B34-3D9E-0918-6D79-A9E4F21513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6123" y="9314163"/>
            <a:ext cx="467864" cy="467864"/>
          </a:xfrm>
          <a:prstGeom prst="rect">
            <a:avLst/>
          </a:prstGeom>
        </p:spPr>
      </p:pic>
      <p:pic>
        <p:nvPicPr>
          <p:cNvPr id="21" name="תמונה 20">
            <a:extLst>
              <a:ext uri="{FF2B5EF4-FFF2-40B4-BE49-F238E27FC236}">
                <a16:creationId xmlns:a16="http://schemas.microsoft.com/office/drawing/2014/main" id="{A6E5B8EA-65D1-9B0F-5F4E-ADB541E066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957" y="6421352"/>
            <a:ext cx="1472843" cy="792863"/>
          </a:xfrm>
          <a:prstGeom prst="rect">
            <a:avLst/>
          </a:prstGeom>
        </p:spPr>
      </p:pic>
      <p:pic>
        <p:nvPicPr>
          <p:cNvPr id="23" name="תמונה 22">
            <a:extLst>
              <a:ext uri="{FF2B5EF4-FFF2-40B4-BE49-F238E27FC236}">
                <a16:creationId xmlns:a16="http://schemas.microsoft.com/office/drawing/2014/main" id="{E7670314-2C54-21E1-3D5F-EECD027606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5551" y="7352693"/>
            <a:ext cx="1519653" cy="792862"/>
          </a:xfrm>
          <a:prstGeom prst="rect">
            <a:avLst/>
          </a:prstGeom>
        </p:spPr>
      </p:pic>
      <p:sp>
        <p:nvSpPr>
          <p:cNvPr id="24" name="תיבת טקסט 23">
            <a:extLst>
              <a:ext uri="{FF2B5EF4-FFF2-40B4-BE49-F238E27FC236}">
                <a16:creationId xmlns:a16="http://schemas.microsoft.com/office/drawing/2014/main" id="{6AC2373D-D0B4-FDB4-7211-627A5538DE79}"/>
              </a:ext>
            </a:extLst>
          </p:cNvPr>
          <p:cNvSpPr txBox="1"/>
          <p:nvPr/>
        </p:nvSpPr>
        <p:spPr>
          <a:xfrm>
            <a:off x="1915148" y="6421352"/>
            <a:ext cx="436839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We had </a:t>
            </a:r>
            <a:r>
              <a:rPr lang="en-US" sz="1200" dirty="0" err="1"/>
              <a:t>varius</a:t>
            </a:r>
            <a:r>
              <a:rPr lang="en-US" sz="1200" dirty="0"/>
              <a:t> outcomes, each type of data that we use while examining the size of the </a:t>
            </a:r>
            <a:r>
              <a:rPr lang="en-US" sz="1200" dirty="0" err="1"/>
              <a:t>compresed</a:t>
            </a:r>
            <a:r>
              <a:rPr lang="en-US" sz="1200" dirty="0"/>
              <a:t> massage gave a different answer. </a:t>
            </a:r>
          </a:p>
          <a:p>
            <a:r>
              <a:rPr lang="en-US" sz="1200" dirty="0"/>
              <a:t>The program that create a random numbers and sort them </a:t>
            </a:r>
            <a:r>
              <a:rPr lang="en-US" sz="1200"/>
              <a:t>in an </a:t>
            </a:r>
            <a:r>
              <a:rPr lang="en-US" sz="1200" dirty="0"/>
              <a:t>array </a:t>
            </a:r>
          </a:p>
        </p:txBody>
      </p:sp>
    </p:spTree>
    <p:extLst>
      <p:ext uri="{BB962C8B-B14F-4D97-AF65-F5344CB8AC3E}">
        <p14:creationId xmlns:p14="http://schemas.microsoft.com/office/powerpoint/2010/main" val="13216844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667</TotalTime>
  <Words>292</Words>
  <Application>Microsoft Office PowerPoint</Application>
  <PresentationFormat>מותאם אישית</PresentationFormat>
  <Paragraphs>25</Paragraphs>
  <Slides>1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5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</vt:i4>
      </vt:variant>
    </vt:vector>
  </HeadingPairs>
  <TitlesOfParts>
    <vt:vector size="7" baseType="lpstr">
      <vt:lpstr>Arial</vt:lpstr>
      <vt:lpstr>Assistant</vt:lpstr>
      <vt:lpstr>Calibri</vt:lpstr>
      <vt:lpstr>Calibri Light</vt:lpstr>
      <vt:lpstr>CambriaMath</vt:lpstr>
      <vt:lpstr>Office Theme</vt:lpstr>
      <vt:lpstr>מצגת של PowerPoint‏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yogi zor</dc:creator>
  <cp:lastModifiedBy>lio berni</cp:lastModifiedBy>
  <cp:revision>25</cp:revision>
  <dcterms:created xsi:type="dcterms:W3CDTF">2020-05-21T09:41:20Z</dcterms:created>
  <dcterms:modified xsi:type="dcterms:W3CDTF">2022-05-22T16:31:59Z</dcterms:modified>
</cp:coreProperties>
</file>