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6858000" cy="10080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>
        <p:scale>
          <a:sx n="125" d="100"/>
          <a:sy n="125" d="100"/>
        </p:scale>
        <p:origin x="36" y="-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49770"/>
            <a:ext cx="5829300" cy="350955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94662"/>
            <a:ext cx="5143500" cy="243381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1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0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513159"/>
            <a:ext cx="5915025" cy="419325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746088"/>
            <a:ext cx="5915025" cy="220513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2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83500"/>
            <a:ext cx="2914650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83500"/>
            <a:ext cx="2914650" cy="6396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8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6702"/>
            <a:ext cx="5915025" cy="1948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71154"/>
            <a:ext cx="2901255" cy="12110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82228"/>
            <a:ext cx="2901255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71154"/>
            <a:ext cx="2915543" cy="121107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82228"/>
            <a:ext cx="2915543" cy="54160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5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8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1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2042"/>
            <a:ext cx="2211884" cy="235214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51426"/>
            <a:ext cx="3471863" cy="716377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24188"/>
            <a:ext cx="2211884" cy="560268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2042"/>
            <a:ext cx="2211884" cy="235214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51426"/>
            <a:ext cx="3471863" cy="716377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24188"/>
            <a:ext cx="2211884" cy="560268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6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2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36700"/>
            <a:ext cx="1478756" cy="854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36700"/>
            <a:ext cx="4350544" cy="854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4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36702"/>
            <a:ext cx="5915025" cy="1948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83500"/>
            <a:ext cx="5915025" cy="639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343248"/>
            <a:ext cx="154305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E89F4-C31D-45E3-BFAA-D8E8790DFB8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343248"/>
            <a:ext cx="2314575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343248"/>
            <a:ext cx="154305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EA510-ADDF-4DBA-8516-F528B7CF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3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" y="0"/>
            <a:ext cx="6857999" cy="1283749"/>
          </a:xfr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defTabSz="951583"/>
            <a:b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</a:br>
            <a:b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</a:br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       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Arial"/>
              </a:rPr>
              <a:t>Data Compression – </a:t>
            </a:r>
            <a:r>
              <a:rPr lang="en-US" b="1" dirty="0">
                <a:solidFill>
                  <a:schemeClr val="tx1"/>
                </a:solidFill>
                <a:latin typeface="Calibri"/>
                <a:cs typeface="Arial"/>
              </a:rPr>
              <a:t>Comparing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Arial"/>
              </a:rPr>
              <a:t> </a:t>
            </a:r>
            <a:r>
              <a:rPr lang="en-US" sz="1900" b="1" dirty="0" err="1">
                <a:solidFill>
                  <a:schemeClr val="tx1"/>
                </a:solidFill>
                <a:latin typeface="Calibri"/>
                <a:cs typeface="Arial"/>
              </a:rPr>
              <a:t>Haar’s</a:t>
            </a:r>
            <a:r>
              <a:rPr lang="en-US" sz="1900" b="1" dirty="0">
                <a:solidFill>
                  <a:schemeClr val="tx1"/>
                </a:solidFill>
                <a:latin typeface="Calibri"/>
                <a:cs typeface="Arial"/>
              </a:rPr>
              <a:t> Algorithms</a:t>
            </a:r>
            <a:b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</a:br>
            <a:endParaRPr lang="en-US" sz="1307" b="1" dirty="0">
              <a:solidFill>
                <a:schemeClr val="tx1"/>
              </a:solidFill>
              <a:latin typeface="Calibri"/>
              <a:cs typeface="Arial"/>
            </a:endParaRPr>
          </a:p>
          <a:p>
            <a:pPr defTabSz="951583"/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Presenters: </a:t>
            </a:r>
            <a:r>
              <a:rPr lang="en-US" sz="1307" b="1" dirty="0" err="1">
                <a:solidFill>
                  <a:schemeClr val="tx1"/>
                </a:solidFill>
                <a:latin typeface="Calibri"/>
                <a:cs typeface="Arial"/>
              </a:rPr>
              <a:t>Liel</a:t>
            </a:r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 </a:t>
            </a:r>
            <a:r>
              <a:rPr lang="en-US" sz="1307" b="1" dirty="0" err="1">
                <a:solidFill>
                  <a:schemeClr val="tx1"/>
                </a:solidFill>
                <a:latin typeface="Calibri"/>
                <a:cs typeface="Arial"/>
              </a:rPr>
              <a:t>Berniker</a:t>
            </a:r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, Noy </a:t>
            </a:r>
            <a:r>
              <a:rPr lang="en-US" sz="1307" b="1" dirty="0" err="1">
                <a:solidFill>
                  <a:schemeClr val="tx1"/>
                </a:solidFill>
                <a:latin typeface="Calibri"/>
                <a:cs typeface="Arial"/>
              </a:rPr>
              <a:t>Osi</a:t>
            </a:r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, Dvir Segal</a:t>
            </a:r>
            <a:b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</a:br>
            <a: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  <a:t>Instructor: Prof. Dana Shapira</a:t>
            </a:r>
            <a:br>
              <a:rPr lang="en-US" sz="1307" b="1" dirty="0">
                <a:solidFill>
                  <a:schemeClr val="tx1"/>
                </a:solidFill>
                <a:latin typeface="Calibri"/>
                <a:cs typeface="Arial"/>
              </a:rPr>
            </a:br>
            <a:endParaRPr lang="he-IL" sz="1307" b="1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44880" y="5002000"/>
            <a:ext cx="184730" cy="17376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endParaRPr lang="he-IL" sz="490" dirty="0"/>
          </a:p>
        </p:txBody>
      </p:sp>
      <p:sp>
        <p:nvSpPr>
          <p:cNvPr id="12" name="Rounded Rectangle 6"/>
          <p:cNvSpPr/>
          <p:nvPr/>
        </p:nvSpPr>
        <p:spPr>
          <a:xfrm>
            <a:off x="3554669" y="1306524"/>
            <a:ext cx="3230880" cy="2327963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t"/>
          <a:lstStyle/>
          <a:p>
            <a:pPr>
              <a:defRPr/>
            </a:pPr>
            <a:r>
              <a:rPr lang="en-US" sz="1210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. </a:t>
            </a:r>
            <a: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Introduction</a:t>
            </a:r>
            <a:r>
              <a:rPr lang="en-US" sz="14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:</a:t>
            </a:r>
            <a:endParaRPr lang="en-US" sz="1250" u="sng" dirty="0">
              <a:solidFill>
                <a:prstClr val="black"/>
              </a:solidFill>
              <a:latin typeface="Arial" pitchFamily="34" charset="0"/>
              <a:ea typeface="Tahoma" pitchFamily="34" charset="0"/>
              <a:cs typeface="Arial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Data compression is the process of encoding, restructuring, or otherwise modifying data in order to reduce its size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our </a:t>
            </a:r>
            <a:r>
              <a:rPr lang="en-US" sz="11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Data compression 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research, we specified the Haar wavelet transform, which is a simple discrete transform.</a:t>
            </a:r>
            <a:endParaRPr lang="en-US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compare the compression performance of two main Haar algorithms applied for lossless compression of integer sequences.</a:t>
            </a:r>
            <a:endParaRPr lang="en-US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Haar Integer 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US" sz="11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Haar New Transform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1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ounded Rectangle 6"/>
          <p:cNvSpPr/>
          <p:nvPr/>
        </p:nvSpPr>
        <p:spPr>
          <a:xfrm>
            <a:off x="72451" y="3324859"/>
            <a:ext cx="2929204" cy="2517852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t"/>
          <a:lstStyle/>
          <a:p>
            <a:pPr>
              <a:defRPr/>
            </a:pPr>
            <a:r>
              <a:rPr lang="he-IL" sz="1200" b="1" dirty="0">
                <a:latin typeface="Arial" panose="020B0604020202020204" pitchFamily="34" charset="0"/>
                <a:ea typeface="Tahoma" pitchFamily="34" charset="0"/>
                <a:cs typeface="Arial" pitchFamily="34" charset="0"/>
              </a:rPr>
              <a:t>3</a:t>
            </a:r>
            <a:r>
              <a:rPr lang="en-US" sz="1200" b="1" dirty="0">
                <a:latin typeface="Arial" panose="020B0604020202020204" pitchFamily="34" charset="0"/>
                <a:ea typeface="Tahoma" pitchFamily="34" charset="0"/>
                <a:cs typeface="Arial" pitchFamily="34" charset="0"/>
              </a:rPr>
              <a:t>.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Methods and </a:t>
            </a:r>
            <a: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Selected Approach 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method to compare the efficiency of the  algorithms was to measure the bit size compressed </a:t>
            </a:r>
            <a:r>
              <a:rPr lang="he-IL" sz="1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message. </a:t>
            </a: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endParaRPr lang="en-US" sz="10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algn="l" rtl="0" latinLnBrk="0">
              <a:spcBef>
                <a:spcPts val="0"/>
              </a:spcBef>
              <a:spcAft>
                <a:spcPts val="0"/>
              </a:spcAft>
            </a:pPr>
            <a:br>
              <a:rPr lang="en-US" sz="10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1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the implementations were made in C++ </a:t>
            </a:r>
            <a:endParaRPr lang="en-US" sz="10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000" b="1" dirty="0">
              <a:latin typeface="Arial" pitchFamily="34" charset="0"/>
              <a:ea typeface="Tahoma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000" b="1" dirty="0">
                <a:latin typeface="Arial" pitchFamily="34" charset="0"/>
                <a:ea typeface="Tahoma" pitchFamily="34" charset="0"/>
                <a:cs typeface="Arial" pitchFamily="34" charset="0"/>
              </a:rPr>
              <a:t>   </a:t>
            </a:r>
            <a:br>
              <a:rPr lang="en-US" sz="1000" b="1" dirty="0">
                <a:latin typeface="Arial" pitchFamily="34" charset="0"/>
                <a:ea typeface="Tahoma" pitchFamily="34" charset="0"/>
                <a:cs typeface="Arial" pitchFamily="34" charset="0"/>
              </a:rPr>
            </a:br>
            <a:r>
              <a:rPr lang="he-IL" sz="1000" b="1" dirty="0">
                <a:latin typeface="Arial" pitchFamily="34" charset="0"/>
                <a:ea typeface="Tahoma" pitchFamily="34" charset="0"/>
                <a:cs typeface="Arial" pitchFamily="34" charset="0"/>
              </a:rPr>
              <a:t> </a:t>
            </a:r>
            <a:endParaRPr lang="en-US" sz="1000" b="1" dirty="0">
              <a:latin typeface="Arial" pitchFamily="34" charset="0"/>
              <a:ea typeface="Tahoma" pitchFamily="34" charset="0"/>
              <a:cs typeface="Arial" pitchFamily="34" charset="0"/>
            </a:endParaRPr>
          </a:p>
        </p:txBody>
      </p:sp>
      <p:sp>
        <p:nvSpPr>
          <p:cNvPr id="29" name="Rounded Rectangle 6"/>
          <p:cNvSpPr/>
          <p:nvPr/>
        </p:nvSpPr>
        <p:spPr>
          <a:xfrm>
            <a:off x="3141382" y="3857549"/>
            <a:ext cx="3686927" cy="2341578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t"/>
          <a:lstStyle/>
          <a:p>
            <a:pPr algn="l"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4. </a:t>
            </a:r>
            <a:r>
              <a:rPr lang="en-US" sz="1100" b="0" i="1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Haar Integer </a:t>
            </a:r>
            <a:r>
              <a:rPr lang="en-US" sz="11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US" sz="1100" b="0" i="1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Haar New Transform pseudo codes</a:t>
            </a:r>
            <a:r>
              <a:rPr lang="en-US" sz="11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: </a:t>
            </a:r>
            <a:b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</a:br>
            <a:endParaRPr lang="en-US" sz="1200" u="sng" dirty="0">
              <a:solidFill>
                <a:prstClr val="black"/>
              </a:solidFill>
              <a:latin typeface="Arial" pitchFamily="34" charset="0"/>
              <a:ea typeface="Tahoma" pitchFamily="34" charset="0"/>
              <a:cs typeface="Arial" pitchFamily="34" charset="0"/>
            </a:endParaRPr>
          </a:p>
        </p:txBody>
      </p:sp>
      <p:sp>
        <p:nvSpPr>
          <p:cNvPr id="36" name="Rounded Rectangle 6"/>
          <p:cNvSpPr/>
          <p:nvPr/>
        </p:nvSpPr>
        <p:spPr>
          <a:xfrm>
            <a:off x="166597" y="6399415"/>
            <a:ext cx="6524805" cy="3470344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t"/>
          <a:lstStyle/>
          <a:p>
            <a:pPr rtl="1"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5. </a:t>
            </a:r>
            <a: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Solution Description (Algorithms, Modulation, Patterns, Infrastructure,   </a:t>
            </a:r>
            <a:b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</a:br>
            <a:r>
              <a:rPr lang="en-US" sz="1200" u="sng" dirty="0">
                <a:solidFill>
                  <a:prstClr val="black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     Functionality)</a:t>
            </a:r>
            <a:endParaRPr lang="he-IL" sz="1200" u="sng" dirty="0">
              <a:solidFill>
                <a:prstClr val="black"/>
              </a:solidFill>
              <a:latin typeface="Arial" pitchFamily="34" charset="0"/>
              <a:ea typeface="Tahoma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56292" y="9124806"/>
            <a:ext cx="750659" cy="209609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762" dirty="0">
                <a:latin typeface="Arial" pitchFamily="34" charset="0"/>
                <a:cs typeface="Arial" pitchFamily="34" charset="0"/>
              </a:rPr>
              <a:t>Visit Us</a:t>
            </a:r>
            <a:endParaRPr lang="he-IL" sz="762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74739229-DA93-498A-93F3-E36AC736CA39}"/>
              </a:ext>
            </a:extLst>
          </p:cNvPr>
          <p:cNvSpPr/>
          <p:nvPr/>
        </p:nvSpPr>
        <p:spPr>
          <a:xfrm rot="10800000">
            <a:off x="3141383" y="1911601"/>
            <a:ext cx="397983" cy="24173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49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5ACDA5A-2EDD-4539-A5A7-1A7E2E4C029F}"/>
              </a:ext>
            </a:extLst>
          </p:cNvPr>
          <p:cNvSpPr/>
          <p:nvPr/>
        </p:nvSpPr>
        <p:spPr>
          <a:xfrm rot="10800000">
            <a:off x="2980026" y="3347632"/>
            <a:ext cx="677573" cy="3368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490" dirty="0"/>
          </a:p>
        </p:txBody>
      </p:sp>
      <p:sp>
        <p:nvSpPr>
          <p:cNvPr id="52" name="Arrow: Left 51">
            <a:extLst>
              <a:ext uri="{FF2B5EF4-FFF2-40B4-BE49-F238E27FC236}">
                <a16:creationId xmlns:a16="http://schemas.microsoft.com/office/drawing/2014/main" id="{B42B5E19-1352-4CD7-BA33-5F59FA87A388}"/>
              </a:ext>
            </a:extLst>
          </p:cNvPr>
          <p:cNvSpPr/>
          <p:nvPr/>
        </p:nvSpPr>
        <p:spPr>
          <a:xfrm rot="16200000">
            <a:off x="4754479" y="3604407"/>
            <a:ext cx="200287" cy="2604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49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934A1CC8-3731-4427-9E37-E524BEB70E91}"/>
              </a:ext>
            </a:extLst>
          </p:cNvPr>
          <p:cNvSpPr/>
          <p:nvPr/>
        </p:nvSpPr>
        <p:spPr>
          <a:xfrm>
            <a:off x="1211580" y="5883447"/>
            <a:ext cx="184328" cy="4028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490"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833CA314-16B2-48AE-972C-270F5704890A}"/>
              </a:ext>
            </a:extLst>
          </p:cNvPr>
          <p:cNvSpPr/>
          <p:nvPr/>
        </p:nvSpPr>
        <p:spPr>
          <a:xfrm>
            <a:off x="121537" y="1375548"/>
            <a:ext cx="3004541" cy="1749023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t"/>
          <a:lstStyle/>
          <a:p>
            <a:pPr>
              <a:buFontTx/>
              <a:buAutoNum type="arabicPeriod"/>
              <a:defRPr/>
            </a:pP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project goal:  </a:t>
            </a:r>
          </a:p>
          <a:p>
            <a:pPr>
              <a:defRPr/>
            </a:pPr>
            <a:r>
              <a:rPr lang="en-US" sz="12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Analyze and compare different  algorithms presented in the paper </a:t>
            </a:r>
            <a:r>
              <a:rPr lang="en-US" sz="125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“New Compression Schemes for Natural Number Sequences” ,</a:t>
            </a:r>
            <a:r>
              <a:rPr lang="en-US" sz="125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that use the Haar transform for data compression. </a:t>
            </a:r>
            <a:endParaRPr lang="en-US" sz="125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49D1D0-6211-48F5-B887-977D5BA10AE3}"/>
              </a:ext>
            </a:extLst>
          </p:cNvPr>
          <p:cNvCxnSpPr>
            <a:cxnSpLocks/>
          </p:cNvCxnSpPr>
          <p:nvPr/>
        </p:nvCxnSpPr>
        <p:spPr>
          <a:xfrm>
            <a:off x="5219312" y="9513911"/>
            <a:ext cx="437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CFC95C-2546-AA42-06DB-F6A83ED431C2}"/>
              </a:ext>
            </a:extLst>
          </p:cNvPr>
          <p:cNvSpPr/>
          <p:nvPr/>
        </p:nvSpPr>
        <p:spPr>
          <a:xfrm>
            <a:off x="5940055" y="240873"/>
            <a:ext cx="845495" cy="727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E06C4-1B62-4427-98E9-3F44949EBC0B}"/>
              </a:ext>
            </a:extLst>
          </p:cNvPr>
          <p:cNvSpPr/>
          <p:nvPr/>
        </p:nvSpPr>
        <p:spPr>
          <a:xfrm>
            <a:off x="-1717547" y="-4645382"/>
            <a:ext cx="62858" cy="159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/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C73F2B34-3D9E-0918-6D79-A9E4F2151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123" y="9314163"/>
            <a:ext cx="467864" cy="467864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A6E5B8EA-65D1-9B0F-5F4E-ADB541E06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486" y="4413540"/>
            <a:ext cx="1912862" cy="1469906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E7670314-2C54-21E1-3D5F-EECD02760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353" y="4442386"/>
            <a:ext cx="1851906" cy="1450419"/>
          </a:xfrm>
          <a:prstGeom prst="rect">
            <a:avLst/>
          </a:prstGeom>
        </p:spPr>
      </p:pic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6AC2373D-D0B4-FDB4-7211-627A5538DE79}"/>
              </a:ext>
            </a:extLst>
          </p:cNvPr>
          <p:cNvSpPr txBox="1"/>
          <p:nvPr/>
        </p:nvSpPr>
        <p:spPr>
          <a:xfrm>
            <a:off x="1926877" y="6325400"/>
            <a:ext cx="424185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Arial" panose="020B0604020202020204" pitchFamily="34" charset="0"/>
              </a:rPr>
              <a:t>We had various outcomes, each type of data that we use while examining the size of the compressed message gave a different answer. </a:t>
            </a:r>
            <a:endParaRPr lang="en-US" sz="1100" dirty="0">
              <a:effectLst/>
            </a:endParaRPr>
          </a:p>
          <a:p>
            <a:pPr marL="0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Arial" panose="020B0604020202020204" pitchFamily="34" charset="0"/>
              </a:rPr>
              <a:t>In the program that creates random numbers and sorts them in an array, each time we used a different compression algorithm.</a:t>
            </a:r>
            <a:br>
              <a:rPr lang="en-US" sz="1100" dirty="0">
                <a:effectLst/>
                <a:latin typeface="Arial" panose="020B0604020202020204" pitchFamily="34" charset="0"/>
              </a:rPr>
            </a:br>
            <a:r>
              <a:rPr lang="en-US" sz="1100" dirty="0">
                <a:effectLst/>
                <a:latin typeface="Arial" panose="020B0604020202020204" pitchFamily="34" charset="0"/>
              </a:rPr>
              <a:t>when we used the unary coding, the result shows that the Haar Integer will be more efficient in almost 100% of the attempts</a:t>
            </a:r>
            <a:endParaRPr lang="en-US" sz="1100" dirty="0">
              <a:effectLst/>
            </a:endParaRPr>
          </a:p>
          <a:p>
            <a:pPr marL="0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Arial" panose="020B0604020202020204" pitchFamily="34" charset="0"/>
              </a:rPr>
              <a:t>when we used the binary coding, the result shows that the Haar Integer and the </a:t>
            </a:r>
            <a:r>
              <a:rPr lang="en-US" sz="1100" dirty="0" err="1">
                <a:effectLst/>
                <a:latin typeface="Arial" panose="020B0604020202020204" pitchFamily="34" charset="0"/>
              </a:rPr>
              <a:t>Haar</a:t>
            </a:r>
            <a:r>
              <a:rPr lang="en-US" sz="1100" dirty="0">
                <a:effectLst/>
                <a:latin typeface="Arial" panose="020B0604020202020204" pitchFamily="34" charset="0"/>
              </a:rPr>
              <a:t> </a:t>
            </a:r>
            <a:r>
              <a:rPr lang="en-US" sz="1100" dirty="0">
                <a:latin typeface="Arial" panose="020B0604020202020204" pitchFamily="34" charset="0"/>
              </a:rPr>
              <a:t>new transform</a:t>
            </a:r>
            <a:r>
              <a:rPr lang="en-US" sz="1100" dirty="0">
                <a:effectLst/>
                <a:latin typeface="Arial" panose="020B0604020202020204" pitchFamily="34" charset="0"/>
              </a:rPr>
              <a:t> had the same bit size compressed massage for all the attempts.</a:t>
            </a:r>
            <a:endParaRPr lang="en-US" sz="1100" dirty="0">
              <a:effectLst/>
            </a:endParaRPr>
          </a:p>
          <a:p>
            <a:pPr marL="0" rtl="0" latinLnBrk="0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latin typeface="Arial" panose="020B0604020202020204" pitchFamily="34" charset="0"/>
              </a:rPr>
              <a:t>But when we used the: Elias code 𝑪𝜹, the result shows that the Haar New Transform will be more efficient in almost 80% of the attempts</a:t>
            </a:r>
            <a:b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* in the example at the left corner, you can see the result of running the program on 100k ordered arrays, in the size of 2^3.</a:t>
            </a:r>
            <a:endParaRPr lang="en-US" sz="800" dirty="0">
              <a:effectLst/>
            </a:endParaRPr>
          </a:p>
          <a:p>
            <a:pPr marL="0" rtl="0" latinLnBrk="0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79.8% the Haar New Transform  is more efficient and in the rest 20.2% they had the same bit size compressed massage </a:t>
            </a:r>
            <a:endParaRPr lang="en-US" sz="800" dirty="0">
              <a:effectLst/>
            </a:endParaRPr>
          </a:p>
        </p:txBody>
      </p: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F5FC3768-88F9-ADA2-3E03-E5382278F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15" y="8183946"/>
            <a:ext cx="1612005" cy="1231609"/>
          </a:xfrm>
          <a:prstGeom prst="rect">
            <a:avLst/>
          </a:prstGeom>
        </p:spPr>
      </p:pic>
      <p:sp>
        <p:nvSpPr>
          <p:cNvPr id="27" name="מלבן 26">
            <a:extLst>
              <a:ext uri="{FF2B5EF4-FFF2-40B4-BE49-F238E27FC236}">
                <a16:creationId xmlns:a16="http://schemas.microsoft.com/office/drawing/2014/main" id="{FBE142B5-9FA1-A490-362F-2DCE6F1DC1C7}"/>
              </a:ext>
            </a:extLst>
          </p:cNvPr>
          <p:cNvSpPr/>
          <p:nvPr/>
        </p:nvSpPr>
        <p:spPr>
          <a:xfrm>
            <a:off x="2531915" y="9438330"/>
            <a:ext cx="2670402" cy="2083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6790A299-C0EF-1437-C729-6EA6F571CDC8}"/>
              </a:ext>
            </a:extLst>
          </p:cNvPr>
          <p:cNvSpPr txBox="1"/>
          <p:nvPr/>
        </p:nvSpPr>
        <p:spPr>
          <a:xfrm>
            <a:off x="2398951" y="9415555"/>
            <a:ext cx="26873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050" dirty="0"/>
              <a:t>Scan </a:t>
            </a:r>
            <a:r>
              <a:rPr lang="en-US" sz="1050" dirty="0" err="1"/>
              <a:t>QRCode</a:t>
            </a:r>
            <a:r>
              <a:rPr lang="en-US" sz="1050" dirty="0"/>
              <a:t> for full Instructions(</a:t>
            </a:r>
            <a:r>
              <a:rPr lang="en-US" sz="1050" dirty="0" err="1"/>
              <a:t>github</a:t>
            </a:r>
            <a:r>
              <a:rPr lang="en-US" sz="1050" dirty="0"/>
              <a:t>)</a:t>
            </a:r>
          </a:p>
        </p:txBody>
      </p:sp>
      <p:sp>
        <p:nvSpPr>
          <p:cNvPr id="33" name="Arrow: Right 14">
            <a:extLst>
              <a:ext uri="{FF2B5EF4-FFF2-40B4-BE49-F238E27FC236}">
                <a16:creationId xmlns:a16="http://schemas.microsoft.com/office/drawing/2014/main" id="{6CD3830D-8A8C-2A44-5F9F-0C0208762F96}"/>
              </a:ext>
            </a:extLst>
          </p:cNvPr>
          <p:cNvSpPr/>
          <p:nvPr/>
        </p:nvSpPr>
        <p:spPr>
          <a:xfrm rot="10800000">
            <a:off x="1748610" y="8820544"/>
            <a:ext cx="226710" cy="164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882" tIns="12440" rIns="24882" bIns="12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490"/>
          </a:p>
        </p:txBody>
      </p:sp>
      <p:pic>
        <p:nvPicPr>
          <p:cNvPr id="31" name="תמונה 30">
            <a:extLst>
              <a:ext uri="{FF2B5EF4-FFF2-40B4-BE49-F238E27FC236}">
                <a16:creationId xmlns:a16="http://schemas.microsoft.com/office/drawing/2014/main" id="{E47411B7-9390-F743-2C58-728A9F442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867"/>
            <a:ext cx="1211580" cy="680080"/>
          </a:xfrm>
          <a:prstGeom prst="rect">
            <a:avLst/>
          </a:prstGeom>
        </p:spPr>
      </p:pic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BFB8E754-438B-1640-27C4-B36173B30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82133"/>
              </p:ext>
            </p:extLst>
          </p:nvPr>
        </p:nvGraphicFramePr>
        <p:xfrm>
          <a:off x="121537" y="4273341"/>
          <a:ext cx="2817788" cy="10076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0185">
                  <a:extLst>
                    <a:ext uri="{9D8B030D-6E8A-4147-A177-3AD203B41FA5}">
                      <a16:colId xmlns:a16="http://schemas.microsoft.com/office/drawing/2014/main" val="399169425"/>
                    </a:ext>
                  </a:extLst>
                </a:gridCol>
                <a:gridCol w="1637603">
                  <a:extLst>
                    <a:ext uri="{9D8B030D-6E8A-4147-A177-3AD203B41FA5}">
                      <a16:colId xmlns:a16="http://schemas.microsoft.com/office/drawing/2014/main" val="2319214804"/>
                    </a:ext>
                  </a:extLst>
                </a:gridCol>
              </a:tblGrid>
              <a:tr h="2980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Algorithms: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compression algorithms :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4764049"/>
                  </a:ext>
                </a:extLst>
              </a:tr>
              <a:tr h="145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Haar integer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*Elias code 𝑪𝜹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* binary coding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* unary coding.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7286652"/>
                  </a:ext>
                </a:extLst>
              </a:tr>
              <a:tr h="4572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sng" dirty="0">
                          <a:effectLst/>
                        </a:rPr>
                        <a:t>Haar New Transform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2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68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2682</TotalTime>
  <Words>421</Words>
  <Application>Microsoft Office PowerPoint</Application>
  <PresentationFormat>מותאם אישית</PresentationFormat>
  <Paragraphs>37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yogi zor</dc:creator>
  <cp:lastModifiedBy>lio berni</cp:lastModifiedBy>
  <cp:revision>41</cp:revision>
  <dcterms:created xsi:type="dcterms:W3CDTF">2020-05-21T09:41:20Z</dcterms:created>
  <dcterms:modified xsi:type="dcterms:W3CDTF">2022-05-25T07:44:33Z</dcterms:modified>
</cp:coreProperties>
</file>