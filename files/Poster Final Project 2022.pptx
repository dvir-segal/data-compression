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</p:sldIdLst>
  <p:sldSz cx="6858000" cy="10080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6" autoAdjust="0"/>
    <p:restoredTop sz="94660"/>
  </p:normalViewPr>
  <p:slideViewPr>
    <p:cSldViewPr snapToGrid="0">
      <p:cViewPr>
        <p:scale>
          <a:sx n="125" d="100"/>
          <a:sy n="125" d="100"/>
        </p:scale>
        <p:origin x="810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49770"/>
            <a:ext cx="5829300" cy="3509551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94662"/>
            <a:ext cx="5143500" cy="243381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71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503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513159"/>
            <a:ext cx="5915025" cy="419325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746088"/>
            <a:ext cx="5915025" cy="220513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025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83500"/>
            <a:ext cx="2914650" cy="63960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83500"/>
            <a:ext cx="2914650" cy="63960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386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36702"/>
            <a:ext cx="5915025" cy="1948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71154"/>
            <a:ext cx="2901255" cy="121107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82228"/>
            <a:ext cx="2901255" cy="54160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71154"/>
            <a:ext cx="2915543" cy="121107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82228"/>
            <a:ext cx="2915543" cy="54160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655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088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415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72042"/>
            <a:ext cx="2211884" cy="235214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51426"/>
            <a:ext cx="3471863" cy="716377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024188"/>
            <a:ext cx="2211884" cy="560268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121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72042"/>
            <a:ext cx="2211884" cy="235214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51426"/>
            <a:ext cx="3471863" cy="716377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024188"/>
            <a:ext cx="2211884" cy="560268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269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523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36700"/>
            <a:ext cx="1478756" cy="854286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36700"/>
            <a:ext cx="4350544" cy="854286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248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36702"/>
            <a:ext cx="5915025" cy="1948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83500"/>
            <a:ext cx="5915025" cy="6396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343248"/>
            <a:ext cx="1543050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343248"/>
            <a:ext cx="2314575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343248"/>
            <a:ext cx="1543050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737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" y="0"/>
            <a:ext cx="6857999" cy="1283749"/>
          </a:xfr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normAutofit fontScale="92500" lnSpcReduction="20000"/>
          </a:bodyPr>
          <a:lstStyle/>
          <a:p>
            <a:pPr defTabSz="951583"/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       </a:t>
            </a:r>
            <a:r>
              <a:rPr lang="en-US" sz="1900" b="1" dirty="0">
                <a:solidFill>
                  <a:schemeClr val="tx1"/>
                </a:solidFill>
                <a:latin typeface="Calibri"/>
                <a:cs typeface="Arial"/>
              </a:rPr>
              <a:t>Data Compression – </a:t>
            </a:r>
            <a:r>
              <a:rPr lang="en-US" b="1" dirty="0">
                <a:solidFill>
                  <a:schemeClr val="tx1"/>
                </a:solidFill>
                <a:latin typeface="Calibri"/>
                <a:cs typeface="Arial"/>
              </a:rPr>
              <a:t>Comparing</a:t>
            </a:r>
            <a:r>
              <a:rPr lang="en-US" sz="1900" b="1" dirty="0">
                <a:solidFill>
                  <a:schemeClr val="tx1"/>
                </a:solidFill>
                <a:latin typeface="Calibri"/>
                <a:cs typeface="Arial"/>
              </a:rPr>
              <a:t> </a:t>
            </a:r>
            <a:r>
              <a:rPr lang="en-US" sz="1900" b="1" dirty="0" err="1">
                <a:solidFill>
                  <a:schemeClr val="tx1"/>
                </a:solidFill>
                <a:latin typeface="Calibri"/>
                <a:cs typeface="Arial"/>
              </a:rPr>
              <a:t>Haar’s</a:t>
            </a:r>
            <a:r>
              <a:rPr lang="en-US" sz="1900" b="1" dirty="0">
                <a:solidFill>
                  <a:schemeClr val="tx1"/>
                </a:solidFill>
                <a:latin typeface="Calibri"/>
                <a:cs typeface="Arial"/>
              </a:rPr>
              <a:t> Algorithms</a:t>
            </a: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endParaRPr lang="en-US" sz="1307" b="1" dirty="0">
              <a:solidFill>
                <a:schemeClr val="tx1"/>
              </a:solidFill>
              <a:latin typeface="Calibri"/>
              <a:cs typeface="Arial"/>
            </a:endParaRPr>
          </a:p>
          <a:p>
            <a:pPr defTabSz="951583"/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Presenters: </a:t>
            </a:r>
            <a:r>
              <a:rPr lang="en-US" sz="1307" b="1" dirty="0" err="1">
                <a:solidFill>
                  <a:schemeClr val="tx1"/>
                </a:solidFill>
                <a:latin typeface="Calibri"/>
                <a:cs typeface="Arial"/>
              </a:rPr>
              <a:t>Liel</a:t>
            </a: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 </a:t>
            </a:r>
            <a:r>
              <a:rPr lang="en-US" sz="1307" b="1" dirty="0" err="1">
                <a:solidFill>
                  <a:schemeClr val="tx1"/>
                </a:solidFill>
                <a:latin typeface="Calibri"/>
                <a:cs typeface="Arial"/>
              </a:rPr>
              <a:t>Berniker</a:t>
            </a: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, Noy </a:t>
            </a:r>
            <a:r>
              <a:rPr lang="en-US" sz="1307" b="1" dirty="0" err="1">
                <a:solidFill>
                  <a:schemeClr val="tx1"/>
                </a:solidFill>
                <a:latin typeface="Calibri"/>
                <a:cs typeface="Arial"/>
              </a:rPr>
              <a:t>Osi</a:t>
            </a: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, Dvir Segal</a:t>
            </a: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Instructor: Prof. Dana Shapira</a:t>
            </a: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endParaRPr lang="he-IL" sz="1307" b="1" dirty="0">
              <a:solidFill>
                <a:schemeClr val="tx1"/>
              </a:solidFill>
              <a:latin typeface="Calibri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244880" y="5002000"/>
            <a:ext cx="184730" cy="173766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rtl="1"/>
            <a:endParaRPr lang="he-IL" sz="490" dirty="0"/>
          </a:p>
        </p:txBody>
      </p:sp>
      <p:sp>
        <p:nvSpPr>
          <p:cNvPr id="12" name="Rounded Rectangle 6"/>
          <p:cNvSpPr/>
          <p:nvPr/>
        </p:nvSpPr>
        <p:spPr>
          <a:xfrm>
            <a:off x="3539366" y="1473105"/>
            <a:ext cx="3246184" cy="2451121"/>
          </a:xfrm>
          <a:prstGeom prst="roundRect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defRPr/>
            </a:pPr>
            <a:r>
              <a:rPr lang="en-US" sz="121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2</a:t>
            </a:r>
            <a:r>
              <a:rPr lang="en-US" sz="14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. </a:t>
            </a:r>
            <a:r>
              <a:rPr lang="en-US" sz="14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Introduction:</a:t>
            </a:r>
            <a:br>
              <a:rPr lang="en-US" sz="125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</a:br>
            <a:endParaRPr lang="en-US" sz="1250" u="sng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050" b="0" i="0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Data compression is the process of encoding, restructuring, or otherwise modifying data in order to reduce its size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en-US" sz="105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 our </a:t>
            </a:r>
            <a:r>
              <a:rPr lang="en-US" sz="1050" b="0" i="0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Data compression 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research, we specified the Haar wavelet transform, which is a simple discrete transform.</a:t>
            </a:r>
            <a:endParaRPr lang="en-US" sz="105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We compare 2 main Haar algorithms applied for lossless compression of integer sequences.</a:t>
            </a:r>
            <a:endParaRPr lang="en-US" sz="105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Haar Integer and Haar New Transform.</a:t>
            </a:r>
            <a:endParaRPr lang="en-US" sz="105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05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To discover the optimal algorithms in different aspects.</a:t>
            </a:r>
            <a:endParaRPr lang="en-US" sz="105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ounded Rectangle 6"/>
          <p:cNvSpPr/>
          <p:nvPr/>
        </p:nvSpPr>
        <p:spPr>
          <a:xfrm>
            <a:off x="72450" y="2841385"/>
            <a:ext cx="3038324" cy="2624578"/>
          </a:xfrm>
          <a:prstGeom prst="round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defRPr/>
            </a:pPr>
            <a:r>
              <a:rPr lang="he-IL" sz="1200" b="1" dirty="0"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3</a:t>
            </a:r>
            <a:r>
              <a:rPr lang="en-US" sz="1200" b="1" dirty="0"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. </a:t>
            </a:r>
            <a:r>
              <a:rPr lang="en-US" sz="1200" u="sng" dirty="0">
                <a:latin typeface="Arial" panose="020B0604020202020204" pitchFamily="34" charset="0"/>
                <a:cs typeface="Arial" panose="020B0604020202020204" pitchFamily="34" charset="0"/>
              </a:rPr>
              <a:t>Methods/algorithms/Alternatives or</a:t>
            </a:r>
            <a:br>
              <a:rPr lang="en-US" sz="1200" u="sng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200" u="sng" dirty="0">
                <a:latin typeface="Arial" panose="020B0604020202020204" pitchFamily="34" charset="0"/>
                <a:cs typeface="Arial" panose="020B0604020202020204" pitchFamily="34" charset="0"/>
              </a:rPr>
              <a:t>     Design Considerations:</a:t>
            </a:r>
          </a:p>
          <a:p>
            <a:pPr>
              <a:defRPr/>
            </a:pP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200" b="0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 Method we chose to implement the different Haar algorithms was based on the article “New Compression Schemes for Natural Number Sequences” by Prof. Dana Shapira.</a:t>
            </a: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200" b="0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method to compare the efficiency of the algorithms was to measure the bit size compressed </a:t>
            </a:r>
            <a:r>
              <a:rPr lang="he-IL" sz="1200" b="0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sz="1200" b="0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message each algorithm produced</a:t>
            </a:r>
          </a:p>
          <a:p>
            <a:pPr>
              <a:defRPr/>
            </a:pPr>
            <a:endParaRPr lang="en-US" sz="1200" b="1" dirty="0"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pPr>
              <a:defRPr/>
            </a:pPr>
            <a:r>
              <a:rPr lang="en-US" sz="1200" b="1" dirty="0">
                <a:latin typeface="Arial" pitchFamily="34" charset="0"/>
                <a:ea typeface="Tahoma" pitchFamily="34" charset="0"/>
                <a:cs typeface="Arial" pitchFamily="34" charset="0"/>
              </a:rPr>
              <a:t>   </a:t>
            </a:r>
            <a:br>
              <a:rPr lang="en-US" sz="1200" b="1" dirty="0">
                <a:latin typeface="Arial" pitchFamily="34" charset="0"/>
                <a:ea typeface="Tahoma" pitchFamily="34" charset="0"/>
                <a:cs typeface="Arial" pitchFamily="34" charset="0"/>
              </a:rPr>
            </a:br>
            <a:r>
              <a:rPr lang="he-IL" sz="1200" b="1" dirty="0">
                <a:latin typeface="Arial" pitchFamily="34" charset="0"/>
                <a:ea typeface="Tahoma" pitchFamily="34" charset="0"/>
                <a:cs typeface="Arial" pitchFamily="34" charset="0"/>
              </a:rPr>
              <a:t> </a:t>
            </a:r>
            <a:endParaRPr lang="en-US" sz="1200" b="1" dirty="0"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29" name="Rounded Rectangle 6"/>
          <p:cNvSpPr/>
          <p:nvPr/>
        </p:nvSpPr>
        <p:spPr>
          <a:xfrm>
            <a:off x="3575953" y="4065750"/>
            <a:ext cx="3115449" cy="1537719"/>
          </a:xfrm>
          <a:prstGeom prst="roundRect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1" anchor="t"/>
          <a:lstStyle/>
          <a:p>
            <a:pPr algn="l">
              <a:defRPr/>
            </a:pPr>
            <a:r>
              <a:rPr lang="en-US" sz="12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4. </a:t>
            </a:r>
            <a:r>
              <a:rPr lang="en-US" sz="14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Selected Approach: </a:t>
            </a:r>
            <a:br>
              <a:rPr lang="en-US" sz="12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</a:br>
            <a:endParaRPr lang="en-US" sz="1200" u="sng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1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 Haar algorithms outcome were compressed by several different compression algorithms such as Elias code 𝑪𝜹, binary coding, and unary coding.</a:t>
            </a:r>
            <a:endParaRPr lang="en-US" sz="1100" b="0" i="0" dirty="0">
              <a:solidFill>
                <a:srgbClr val="2222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algn="l" rtl="0" latinLnBrk="0">
              <a:spcBef>
                <a:spcPts val="0"/>
              </a:spcBef>
              <a:spcAft>
                <a:spcPts val="0"/>
              </a:spcAft>
            </a:pPr>
            <a:r>
              <a:rPr lang="en-US" sz="11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All the implementations were made in C++ </a:t>
            </a:r>
            <a:endParaRPr lang="en-US" sz="1100" b="0" i="0" dirty="0">
              <a:solidFill>
                <a:srgbClr val="2222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Rounded Rectangle 6"/>
          <p:cNvSpPr/>
          <p:nvPr/>
        </p:nvSpPr>
        <p:spPr>
          <a:xfrm>
            <a:off x="166597" y="5746355"/>
            <a:ext cx="6524805" cy="4123403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1" anchor="t"/>
          <a:lstStyle/>
          <a:p>
            <a:pPr rtl="1">
              <a:defRPr/>
            </a:pPr>
            <a:r>
              <a:rPr lang="en-US" sz="12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5. </a:t>
            </a:r>
            <a:r>
              <a:rPr lang="en-US" sz="12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Solution Description (Algorithms, Modulation, Patterns, Infrastructure, UI,   </a:t>
            </a:r>
            <a:br>
              <a:rPr lang="en-US" sz="12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</a:br>
            <a:r>
              <a:rPr lang="en-US" sz="1200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     Functionality)</a:t>
            </a:r>
            <a:endParaRPr lang="he-IL" sz="1200" u="sng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556292" y="9124806"/>
            <a:ext cx="750659" cy="209609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 wrap="square" rtlCol="1">
            <a:spAutoFit/>
          </a:bodyPr>
          <a:lstStyle/>
          <a:p>
            <a:pPr algn="ctr"/>
            <a:r>
              <a:rPr lang="en-US" sz="762" dirty="0">
                <a:latin typeface="Arial" pitchFamily="34" charset="0"/>
                <a:cs typeface="Arial" pitchFamily="34" charset="0"/>
              </a:rPr>
              <a:t>Visit Us</a:t>
            </a:r>
            <a:endParaRPr lang="he-IL" sz="762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4" name="Arrow: Left 13">
            <a:extLst>
              <a:ext uri="{FF2B5EF4-FFF2-40B4-BE49-F238E27FC236}">
                <a16:creationId xmlns:a16="http://schemas.microsoft.com/office/drawing/2014/main" id="{74739229-DA93-498A-93F3-E36AC736CA39}"/>
              </a:ext>
            </a:extLst>
          </p:cNvPr>
          <p:cNvSpPr/>
          <p:nvPr/>
        </p:nvSpPr>
        <p:spPr>
          <a:xfrm rot="10800000">
            <a:off x="3141383" y="1911601"/>
            <a:ext cx="397983" cy="24173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5ACDA5A-2EDD-4539-A5A7-1A7E2E4C029F}"/>
              </a:ext>
            </a:extLst>
          </p:cNvPr>
          <p:cNvSpPr/>
          <p:nvPr/>
        </p:nvSpPr>
        <p:spPr>
          <a:xfrm rot="10800000">
            <a:off x="3141382" y="3221338"/>
            <a:ext cx="397984" cy="2417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52" name="Arrow: Left 51">
            <a:extLst>
              <a:ext uri="{FF2B5EF4-FFF2-40B4-BE49-F238E27FC236}">
                <a16:creationId xmlns:a16="http://schemas.microsoft.com/office/drawing/2014/main" id="{B42B5E19-1352-4CD7-BA33-5F59FA87A388}"/>
              </a:ext>
            </a:extLst>
          </p:cNvPr>
          <p:cNvSpPr/>
          <p:nvPr/>
        </p:nvSpPr>
        <p:spPr>
          <a:xfrm rot="10800000">
            <a:off x="3126077" y="4436621"/>
            <a:ext cx="434574" cy="24172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34A1CC8-3731-4427-9E37-E524BEB70E91}"/>
              </a:ext>
            </a:extLst>
          </p:cNvPr>
          <p:cNvSpPr/>
          <p:nvPr/>
        </p:nvSpPr>
        <p:spPr>
          <a:xfrm>
            <a:off x="1701800" y="5446552"/>
            <a:ext cx="236752" cy="2998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18" name="Rounded Rectangle 6">
            <a:extLst>
              <a:ext uri="{FF2B5EF4-FFF2-40B4-BE49-F238E27FC236}">
                <a16:creationId xmlns:a16="http://schemas.microsoft.com/office/drawing/2014/main" id="{833CA314-16B2-48AE-972C-270F5704890A}"/>
              </a:ext>
            </a:extLst>
          </p:cNvPr>
          <p:cNvSpPr/>
          <p:nvPr/>
        </p:nvSpPr>
        <p:spPr>
          <a:xfrm>
            <a:off x="197204" y="1516650"/>
            <a:ext cx="2944177" cy="1105544"/>
          </a:xfrm>
          <a:prstGeom prst="round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buFontTx/>
              <a:buAutoNum type="arabicPeriod"/>
              <a:defRPr/>
            </a:pPr>
            <a:r>
              <a:rPr lang="en-US" sz="1400" u="sng" dirty="0">
                <a:latin typeface="Arial" panose="020B0604020202020204" pitchFamily="34" charset="0"/>
                <a:cs typeface="Arial" panose="020B0604020202020204" pitchFamily="34" charset="0"/>
              </a:rPr>
              <a:t>Contribution/project goal:  </a:t>
            </a:r>
            <a:br>
              <a:rPr lang="en-US" sz="1400" u="sng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u="sng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>
              <a:defRPr/>
            </a:pPr>
            <a:r>
              <a:rPr lang="en-US" sz="12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Compare different Haar algorithms in data compression and Discover the optimal one </a:t>
            </a:r>
            <a:endParaRPr lang="en-US" sz="12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C49D1D0-6211-48F5-B887-977D5BA10AE3}"/>
              </a:ext>
            </a:extLst>
          </p:cNvPr>
          <p:cNvCxnSpPr>
            <a:cxnSpLocks/>
          </p:cNvCxnSpPr>
          <p:nvPr/>
        </p:nvCxnSpPr>
        <p:spPr>
          <a:xfrm>
            <a:off x="5219312" y="9513911"/>
            <a:ext cx="4372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6CFC95C-2546-AA42-06DB-F6A83ED431C2}"/>
              </a:ext>
            </a:extLst>
          </p:cNvPr>
          <p:cNvSpPr/>
          <p:nvPr/>
        </p:nvSpPr>
        <p:spPr>
          <a:xfrm>
            <a:off x="5940055" y="240873"/>
            <a:ext cx="845495" cy="7278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EE06C4-1B62-4427-98E9-3F44949EBC0B}"/>
              </a:ext>
            </a:extLst>
          </p:cNvPr>
          <p:cNvSpPr/>
          <p:nvPr/>
        </p:nvSpPr>
        <p:spPr>
          <a:xfrm>
            <a:off x="-1717547" y="-4645382"/>
            <a:ext cx="62858" cy="15958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dirty="0"/>
          </a:p>
        </p:txBody>
      </p:sp>
      <p:pic>
        <p:nvPicPr>
          <p:cNvPr id="19" name="תמונה 18">
            <a:extLst>
              <a:ext uri="{FF2B5EF4-FFF2-40B4-BE49-F238E27FC236}">
                <a16:creationId xmlns:a16="http://schemas.microsoft.com/office/drawing/2014/main" id="{C73F2B34-3D9E-0918-6D79-A9E4F21513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6123" y="9314163"/>
            <a:ext cx="467864" cy="467864"/>
          </a:xfrm>
          <a:prstGeom prst="rect">
            <a:avLst/>
          </a:prstGeom>
        </p:spPr>
      </p:pic>
      <p:pic>
        <p:nvPicPr>
          <p:cNvPr id="21" name="תמונה 20">
            <a:extLst>
              <a:ext uri="{FF2B5EF4-FFF2-40B4-BE49-F238E27FC236}">
                <a16:creationId xmlns:a16="http://schemas.microsoft.com/office/drawing/2014/main" id="{A6E5B8EA-65D1-9B0F-5F4E-ADB541E06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957" y="6421352"/>
            <a:ext cx="1472843" cy="792863"/>
          </a:xfrm>
          <a:prstGeom prst="rect">
            <a:avLst/>
          </a:prstGeom>
        </p:spPr>
      </p:pic>
      <p:pic>
        <p:nvPicPr>
          <p:cNvPr id="23" name="תמונה 22">
            <a:extLst>
              <a:ext uri="{FF2B5EF4-FFF2-40B4-BE49-F238E27FC236}">
                <a16:creationId xmlns:a16="http://schemas.microsoft.com/office/drawing/2014/main" id="{E7670314-2C54-21E1-3D5F-EECD027606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957" y="7352693"/>
            <a:ext cx="1519653" cy="792862"/>
          </a:xfrm>
          <a:prstGeom prst="rect">
            <a:avLst/>
          </a:prstGeom>
        </p:spPr>
      </p:pic>
      <p:sp>
        <p:nvSpPr>
          <p:cNvPr id="24" name="תיבת טקסט 23">
            <a:extLst>
              <a:ext uri="{FF2B5EF4-FFF2-40B4-BE49-F238E27FC236}">
                <a16:creationId xmlns:a16="http://schemas.microsoft.com/office/drawing/2014/main" id="{6AC2373D-D0B4-FDB4-7211-627A5538DE79}"/>
              </a:ext>
            </a:extLst>
          </p:cNvPr>
          <p:cNvSpPr txBox="1"/>
          <p:nvPr/>
        </p:nvSpPr>
        <p:spPr>
          <a:xfrm>
            <a:off x="1926877" y="6325400"/>
            <a:ext cx="4241854" cy="2970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rtl="0" latinLnBrk="0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effectLst/>
                <a:latin typeface="Arial" panose="020B0604020202020204" pitchFamily="34" charset="0"/>
              </a:rPr>
              <a:t>We had various outcomes, each type of data that we use while examining the size of the compressed message gave a different answer. </a:t>
            </a:r>
            <a:endParaRPr lang="en-US" sz="1100" dirty="0">
              <a:effectLst/>
            </a:endParaRPr>
          </a:p>
          <a:p>
            <a:pPr marL="0" rtl="0" latinLnBrk="0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effectLst/>
                <a:latin typeface="Arial" panose="020B0604020202020204" pitchFamily="34" charset="0"/>
              </a:rPr>
              <a:t>In the program that creates random numbers and sorts them in an array, each time we used a different compression algorithm.</a:t>
            </a:r>
            <a:br>
              <a:rPr lang="en-US" sz="1100" dirty="0">
                <a:effectLst/>
                <a:latin typeface="Arial" panose="020B0604020202020204" pitchFamily="34" charset="0"/>
              </a:rPr>
            </a:br>
            <a:r>
              <a:rPr lang="en-US" sz="1100" dirty="0">
                <a:effectLst/>
                <a:latin typeface="Arial" panose="020B0604020202020204" pitchFamily="34" charset="0"/>
              </a:rPr>
              <a:t>when we used the unary coding, the result shows that the Haar Integer will be more efficient in almost 100% of the attempts</a:t>
            </a:r>
            <a:endParaRPr lang="en-US" sz="1100" dirty="0">
              <a:effectLst/>
            </a:endParaRPr>
          </a:p>
          <a:p>
            <a:pPr marL="0" rtl="0" latinLnBrk="0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effectLst/>
                <a:latin typeface="Arial" panose="020B0604020202020204" pitchFamily="34" charset="0"/>
              </a:rPr>
              <a:t>when we used the binary coding, the result shows that the Haar Integer and the Haar Integer had the same bit size compressed massage for all the attempts.</a:t>
            </a:r>
            <a:endParaRPr lang="en-US" sz="1100" dirty="0">
              <a:effectLst/>
            </a:endParaRPr>
          </a:p>
          <a:p>
            <a:pPr marL="0" rtl="0" latinLnBrk="0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effectLst/>
                <a:latin typeface="Arial" panose="020B0604020202020204" pitchFamily="34" charset="0"/>
              </a:rPr>
              <a:t>But when we used the: Elias code 𝑪𝜹, the result shows that the Haar New Transform will be more efficient in almost 80% of the attempts</a:t>
            </a:r>
            <a:br>
              <a:rPr lang="en-US" sz="12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2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en-US" sz="12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* in the example at the left corner, you can see the result of running the program on 100k ordered arrays, in the size of 2^3.</a:t>
            </a:r>
            <a:endParaRPr lang="en-US" sz="800" dirty="0">
              <a:effectLst/>
            </a:endParaRPr>
          </a:p>
          <a:p>
            <a:pPr marL="0" rtl="0" latinLnBrk="0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 79.8% the Haar New Transform  is more efficient and in the rest 20.2% they had the same bit size compressed massage </a:t>
            </a:r>
            <a:endParaRPr lang="en-US" sz="800" dirty="0">
              <a:effectLst/>
            </a:endParaRPr>
          </a:p>
        </p:txBody>
      </p:sp>
      <p:pic>
        <p:nvPicPr>
          <p:cNvPr id="26" name="תמונה 25">
            <a:extLst>
              <a:ext uri="{FF2B5EF4-FFF2-40B4-BE49-F238E27FC236}">
                <a16:creationId xmlns:a16="http://schemas.microsoft.com/office/drawing/2014/main" id="{F5FC3768-88F9-ADA2-3E03-E5382278FA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120" y="8204740"/>
            <a:ext cx="1612005" cy="1231609"/>
          </a:xfrm>
          <a:prstGeom prst="rect">
            <a:avLst/>
          </a:prstGeom>
        </p:spPr>
      </p:pic>
      <p:sp>
        <p:nvSpPr>
          <p:cNvPr id="27" name="מלבן 26">
            <a:extLst>
              <a:ext uri="{FF2B5EF4-FFF2-40B4-BE49-F238E27FC236}">
                <a16:creationId xmlns:a16="http://schemas.microsoft.com/office/drawing/2014/main" id="{FBE142B5-9FA1-A490-362F-2DCE6F1DC1C7}"/>
              </a:ext>
            </a:extLst>
          </p:cNvPr>
          <p:cNvSpPr/>
          <p:nvPr/>
        </p:nvSpPr>
        <p:spPr>
          <a:xfrm>
            <a:off x="2531915" y="9438330"/>
            <a:ext cx="2670402" cy="20836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" name="תיבת טקסט 27">
            <a:extLst>
              <a:ext uri="{FF2B5EF4-FFF2-40B4-BE49-F238E27FC236}">
                <a16:creationId xmlns:a16="http://schemas.microsoft.com/office/drawing/2014/main" id="{6790A299-C0EF-1437-C729-6EA6F571CDC8}"/>
              </a:ext>
            </a:extLst>
          </p:cNvPr>
          <p:cNvSpPr txBox="1"/>
          <p:nvPr/>
        </p:nvSpPr>
        <p:spPr>
          <a:xfrm>
            <a:off x="2398951" y="9415555"/>
            <a:ext cx="268739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1050" dirty="0"/>
              <a:t>Scan </a:t>
            </a:r>
            <a:r>
              <a:rPr lang="en-US" sz="1050" dirty="0" err="1"/>
              <a:t>QRCode</a:t>
            </a:r>
            <a:r>
              <a:rPr lang="en-US" sz="1050" dirty="0"/>
              <a:t> for full Instructions(</a:t>
            </a:r>
            <a:r>
              <a:rPr lang="en-US" sz="1050" dirty="0" err="1"/>
              <a:t>github</a:t>
            </a:r>
            <a:r>
              <a:rPr lang="en-US" sz="1050" dirty="0"/>
              <a:t>)</a:t>
            </a:r>
          </a:p>
        </p:txBody>
      </p:sp>
      <p:sp>
        <p:nvSpPr>
          <p:cNvPr id="33" name="Arrow: Right 14">
            <a:extLst>
              <a:ext uri="{FF2B5EF4-FFF2-40B4-BE49-F238E27FC236}">
                <a16:creationId xmlns:a16="http://schemas.microsoft.com/office/drawing/2014/main" id="{6CD3830D-8A8C-2A44-5F9F-0C0208762F96}"/>
              </a:ext>
            </a:extLst>
          </p:cNvPr>
          <p:cNvSpPr/>
          <p:nvPr/>
        </p:nvSpPr>
        <p:spPr>
          <a:xfrm rot="10800000">
            <a:off x="1748610" y="8820544"/>
            <a:ext cx="226710" cy="16412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pic>
        <p:nvPicPr>
          <p:cNvPr id="31" name="תמונה 30">
            <a:extLst>
              <a:ext uri="{FF2B5EF4-FFF2-40B4-BE49-F238E27FC236}">
                <a16:creationId xmlns:a16="http://schemas.microsoft.com/office/drawing/2014/main" id="{E47411B7-9390-F743-2C58-728A9F442C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0867"/>
            <a:ext cx="1211580" cy="68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84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895</TotalTime>
  <Words>446</Words>
  <Application>Microsoft Office PowerPoint</Application>
  <PresentationFormat>מותאם אישית</PresentationFormat>
  <Paragraphs>28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yogi zor</dc:creator>
  <cp:lastModifiedBy>lio berni</cp:lastModifiedBy>
  <cp:revision>31</cp:revision>
  <dcterms:created xsi:type="dcterms:W3CDTF">2020-05-21T09:41:20Z</dcterms:created>
  <dcterms:modified xsi:type="dcterms:W3CDTF">2022-05-22T20:19:56Z</dcterms:modified>
</cp:coreProperties>
</file>