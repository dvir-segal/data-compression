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9799300" cy="323992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98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6" autoAdjust="0"/>
    <p:restoredTop sz="94660"/>
  </p:normalViewPr>
  <p:slideViewPr>
    <p:cSldViewPr snapToGrid="0">
      <p:cViewPr varScale="1">
        <p:scale>
          <a:sx n="18" d="100"/>
          <a:sy n="18" d="100"/>
        </p:scale>
        <p:origin x="2112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84948" y="5302386"/>
            <a:ext cx="16829405" cy="11279752"/>
          </a:xfrm>
        </p:spPr>
        <p:txBody>
          <a:bodyPr anchor="b"/>
          <a:lstStyle>
            <a:lvl1pPr algn="ctr">
              <a:defRPr sz="12992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74913" y="17017128"/>
            <a:ext cx="14849475" cy="7822326"/>
          </a:xfrm>
        </p:spPr>
        <p:txBody>
          <a:bodyPr/>
          <a:lstStyle>
            <a:lvl1pPr marL="0" indent="0" algn="ctr">
              <a:buNone/>
              <a:defRPr sz="5197"/>
            </a:lvl1pPr>
            <a:lvl2pPr marL="989975" indent="0" algn="ctr">
              <a:buNone/>
              <a:defRPr sz="4331"/>
            </a:lvl2pPr>
            <a:lvl3pPr marL="1979950" indent="0" algn="ctr">
              <a:buNone/>
              <a:defRPr sz="3898"/>
            </a:lvl3pPr>
            <a:lvl4pPr marL="2969925" indent="0" algn="ctr">
              <a:buNone/>
              <a:defRPr sz="3464"/>
            </a:lvl4pPr>
            <a:lvl5pPr marL="3959901" indent="0" algn="ctr">
              <a:buNone/>
              <a:defRPr sz="3464"/>
            </a:lvl5pPr>
            <a:lvl6pPr marL="4949876" indent="0" algn="ctr">
              <a:buNone/>
              <a:defRPr sz="3464"/>
            </a:lvl6pPr>
            <a:lvl7pPr marL="5939851" indent="0" algn="ctr">
              <a:buNone/>
              <a:defRPr sz="3464"/>
            </a:lvl7pPr>
            <a:lvl8pPr marL="6929826" indent="0" algn="ctr">
              <a:buNone/>
              <a:defRPr sz="3464"/>
            </a:lvl8pPr>
            <a:lvl9pPr marL="7919801" indent="0" algn="ctr">
              <a:buNone/>
              <a:defRPr sz="3464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125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463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50891" y="8077332"/>
            <a:ext cx="17076896" cy="13477201"/>
          </a:xfrm>
        </p:spPr>
        <p:txBody>
          <a:bodyPr anchor="b"/>
          <a:lstStyle>
            <a:lvl1pPr>
              <a:defRPr sz="12992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50891" y="21682033"/>
            <a:ext cx="17076896" cy="7087342"/>
          </a:xfrm>
        </p:spPr>
        <p:txBody>
          <a:bodyPr/>
          <a:lstStyle>
            <a:lvl1pPr marL="0" indent="0">
              <a:buNone/>
              <a:defRPr sz="5197">
                <a:solidFill>
                  <a:schemeClr val="tx1"/>
                </a:solidFill>
              </a:defRPr>
            </a:lvl1pPr>
            <a:lvl2pPr marL="989975" indent="0">
              <a:buNone/>
              <a:defRPr sz="4331">
                <a:solidFill>
                  <a:schemeClr val="tx1">
                    <a:tint val="75000"/>
                  </a:schemeClr>
                </a:solidFill>
              </a:defRPr>
            </a:lvl2pPr>
            <a:lvl3pPr marL="1979950" indent="0">
              <a:buNone/>
              <a:defRPr sz="3898">
                <a:solidFill>
                  <a:schemeClr val="tx1">
                    <a:tint val="75000"/>
                  </a:schemeClr>
                </a:solidFill>
              </a:defRPr>
            </a:lvl3pPr>
            <a:lvl4pPr marL="2969925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4pPr>
            <a:lvl5pPr marL="3959901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5pPr>
            <a:lvl6pPr marL="4949876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6pPr>
            <a:lvl7pPr marL="5939851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7pPr>
            <a:lvl8pPr marL="6929826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8pPr>
            <a:lvl9pPr marL="7919801" indent="0">
              <a:buNone/>
              <a:defRPr sz="34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371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61202" y="8624810"/>
            <a:ext cx="8414703" cy="2055705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23395" y="8624810"/>
            <a:ext cx="8414703" cy="2055705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62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781" y="1724969"/>
            <a:ext cx="17076896" cy="6262365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3783" y="7942328"/>
            <a:ext cx="8376031" cy="3892412"/>
          </a:xfrm>
        </p:spPr>
        <p:txBody>
          <a:bodyPr anchor="b"/>
          <a:lstStyle>
            <a:lvl1pPr marL="0" indent="0">
              <a:buNone/>
              <a:defRPr sz="5197" b="1"/>
            </a:lvl1pPr>
            <a:lvl2pPr marL="989975" indent="0">
              <a:buNone/>
              <a:defRPr sz="4331" b="1"/>
            </a:lvl2pPr>
            <a:lvl3pPr marL="1979950" indent="0">
              <a:buNone/>
              <a:defRPr sz="3898" b="1"/>
            </a:lvl3pPr>
            <a:lvl4pPr marL="2969925" indent="0">
              <a:buNone/>
              <a:defRPr sz="3464" b="1"/>
            </a:lvl4pPr>
            <a:lvl5pPr marL="3959901" indent="0">
              <a:buNone/>
              <a:defRPr sz="3464" b="1"/>
            </a:lvl5pPr>
            <a:lvl6pPr marL="4949876" indent="0">
              <a:buNone/>
              <a:defRPr sz="3464" b="1"/>
            </a:lvl6pPr>
            <a:lvl7pPr marL="5939851" indent="0">
              <a:buNone/>
              <a:defRPr sz="3464" b="1"/>
            </a:lvl7pPr>
            <a:lvl8pPr marL="6929826" indent="0">
              <a:buNone/>
              <a:defRPr sz="3464" b="1"/>
            </a:lvl8pPr>
            <a:lvl9pPr marL="7919801" indent="0">
              <a:buNone/>
              <a:defRPr sz="3464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3783" y="11834740"/>
            <a:ext cx="8376031" cy="1740712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3397" y="7942328"/>
            <a:ext cx="8417281" cy="3892412"/>
          </a:xfrm>
        </p:spPr>
        <p:txBody>
          <a:bodyPr anchor="b"/>
          <a:lstStyle>
            <a:lvl1pPr marL="0" indent="0">
              <a:buNone/>
              <a:defRPr sz="5197" b="1"/>
            </a:lvl1pPr>
            <a:lvl2pPr marL="989975" indent="0">
              <a:buNone/>
              <a:defRPr sz="4331" b="1"/>
            </a:lvl2pPr>
            <a:lvl3pPr marL="1979950" indent="0">
              <a:buNone/>
              <a:defRPr sz="3898" b="1"/>
            </a:lvl3pPr>
            <a:lvl4pPr marL="2969925" indent="0">
              <a:buNone/>
              <a:defRPr sz="3464" b="1"/>
            </a:lvl4pPr>
            <a:lvl5pPr marL="3959901" indent="0">
              <a:buNone/>
              <a:defRPr sz="3464" b="1"/>
            </a:lvl5pPr>
            <a:lvl6pPr marL="4949876" indent="0">
              <a:buNone/>
              <a:defRPr sz="3464" b="1"/>
            </a:lvl6pPr>
            <a:lvl7pPr marL="5939851" indent="0">
              <a:buNone/>
              <a:defRPr sz="3464" b="1"/>
            </a:lvl7pPr>
            <a:lvl8pPr marL="6929826" indent="0">
              <a:buNone/>
              <a:defRPr sz="3464" b="1"/>
            </a:lvl8pPr>
            <a:lvl9pPr marL="7919801" indent="0">
              <a:buNone/>
              <a:defRPr sz="3464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023397" y="11834740"/>
            <a:ext cx="8417281" cy="1740712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248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300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303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781" y="2159952"/>
            <a:ext cx="6385790" cy="7559834"/>
          </a:xfrm>
        </p:spPr>
        <p:txBody>
          <a:bodyPr anchor="b"/>
          <a:lstStyle>
            <a:lvl1pPr>
              <a:defRPr sz="6929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7281" y="4664905"/>
            <a:ext cx="10023396" cy="23024494"/>
          </a:xfrm>
        </p:spPr>
        <p:txBody>
          <a:bodyPr/>
          <a:lstStyle>
            <a:lvl1pPr>
              <a:defRPr sz="6929"/>
            </a:lvl1pPr>
            <a:lvl2pPr>
              <a:defRPr sz="6063"/>
            </a:lvl2pPr>
            <a:lvl3pPr>
              <a:defRPr sz="5197"/>
            </a:lvl3pPr>
            <a:lvl4pPr>
              <a:defRPr sz="4331"/>
            </a:lvl4pPr>
            <a:lvl5pPr>
              <a:defRPr sz="4331"/>
            </a:lvl5pPr>
            <a:lvl6pPr>
              <a:defRPr sz="4331"/>
            </a:lvl6pPr>
            <a:lvl7pPr>
              <a:defRPr sz="4331"/>
            </a:lvl7pPr>
            <a:lvl8pPr>
              <a:defRPr sz="4331"/>
            </a:lvl8pPr>
            <a:lvl9pPr>
              <a:defRPr sz="433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63781" y="9719786"/>
            <a:ext cx="6385790" cy="18007107"/>
          </a:xfrm>
        </p:spPr>
        <p:txBody>
          <a:bodyPr/>
          <a:lstStyle>
            <a:lvl1pPr marL="0" indent="0">
              <a:buNone/>
              <a:defRPr sz="3464"/>
            </a:lvl1pPr>
            <a:lvl2pPr marL="989975" indent="0">
              <a:buNone/>
              <a:defRPr sz="3031"/>
            </a:lvl2pPr>
            <a:lvl3pPr marL="1979950" indent="0">
              <a:buNone/>
              <a:defRPr sz="2598"/>
            </a:lvl3pPr>
            <a:lvl4pPr marL="2969925" indent="0">
              <a:buNone/>
              <a:defRPr sz="2165"/>
            </a:lvl4pPr>
            <a:lvl5pPr marL="3959901" indent="0">
              <a:buNone/>
              <a:defRPr sz="2165"/>
            </a:lvl5pPr>
            <a:lvl6pPr marL="4949876" indent="0">
              <a:buNone/>
              <a:defRPr sz="2165"/>
            </a:lvl6pPr>
            <a:lvl7pPr marL="5939851" indent="0">
              <a:buNone/>
              <a:defRPr sz="2165"/>
            </a:lvl7pPr>
            <a:lvl8pPr marL="6929826" indent="0">
              <a:buNone/>
              <a:defRPr sz="2165"/>
            </a:lvl8pPr>
            <a:lvl9pPr marL="7919801" indent="0">
              <a:buNone/>
              <a:defRPr sz="216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19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781" y="2159952"/>
            <a:ext cx="6385790" cy="7559834"/>
          </a:xfrm>
        </p:spPr>
        <p:txBody>
          <a:bodyPr anchor="b"/>
          <a:lstStyle>
            <a:lvl1pPr>
              <a:defRPr sz="6929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417281" y="4664905"/>
            <a:ext cx="10023396" cy="23024494"/>
          </a:xfrm>
        </p:spPr>
        <p:txBody>
          <a:bodyPr anchor="t"/>
          <a:lstStyle>
            <a:lvl1pPr marL="0" indent="0">
              <a:buNone/>
              <a:defRPr sz="6929"/>
            </a:lvl1pPr>
            <a:lvl2pPr marL="989975" indent="0">
              <a:buNone/>
              <a:defRPr sz="6063"/>
            </a:lvl2pPr>
            <a:lvl3pPr marL="1979950" indent="0">
              <a:buNone/>
              <a:defRPr sz="5197"/>
            </a:lvl3pPr>
            <a:lvl4pPr marL="2969925" indent="0">
              <a:buNone/>
              <a:defRPr sz="4331"/>
            </a:lvl4pPr>
            <a:lvl5pPr marL="3959901" indent="0">
              <a:buNone/>
              <a:defRPr sz="4331"/>
            </a:lvl5pPr>
            <a:lvl6pPr marL="4949876" indent="0">
              <a:buNone/>
              <a:defRPr sz="4331"/>
            </a:lvl6pPr>
            <a:lvl7pPr marL="5939851" indent="0">
              <a:buNone/>
              <a:defRPr sz="4331"/>
            </a:lvl7pPr>
            <a:lvl8pPr marL="6929826" indent="0">
              <a:buNone/>
              <a:defRPr sz="4331"/>
            </a:lvl8pPr>
            <a:lvl9pPr marL="7919801" indent="0">
              <a:buNone/>
              <a:defRPr sz="4331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63781" y="9719786"/>
            <a:ext cx="6385790" cy="18007107"/>
          </a:xfrm>
        </p:spPr>
        <p:txBody>
          <a:bodyPr/>
          <a:lstStyle>
            <a:lvl1pPr marL="0" indent="0">
              <a:buNone/>
              <a:defRPr sz="3464"/>
            </a:lvl1pPr>
            <a:lvl2pPr marL="989975" indent="0">
              <a:buNone/>
              <a:defRPr sz="3031"/>
            </a:lvl2pPr>
            <a:lvl3pPr marL="1979950" indent="0">
              <a:buNone/>
              <a:defRPr sz="2598"/>
            </a:lvl3pPr>
            <a:lvl4pPr marL="2969925" indent="0">
              <a:buNone/>
              <a:defRPr sz="2165"/>
            </a:lvl4pPr>
            <a:lvl5pPr marL="3959901" indent="0">
              <a:buNone/>
              <a:defRPr sz="2165"/>
            </a:lvl5pPr>
            <a:lvl6pPr marL="4949876" indent="0">
              <a:buNone/>
              <a:defRPr sz="2165"/>
            </a:lvl6pPr>
            <a:lvl7pPr marL="5939851" indent="0">
              <a:buNone/>
              <a:defRPr sz="2165"/>
            </a:lvl7pPr>
            <a:lvl8pPr marL="6929826" indent="0">
              <a:buNone/>
              <a:defRPr sz="2165"/>
            </a:lvl8pPr>
            <a:lvl9pPr marL="7919801" indent="0">
              <a:buNone/>
              <a:defRPr sz="2165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316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604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168875" y="1724962"/>
            <a:ext cx="4269224" cy="27456899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61203" y="1724962"/>
            <a:ext cx="12560181" cy="27456899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5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61202" y="1724969"/>
            <a:ext cx="17076896" cy="62623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1202" y="8624810"/>
            <a:ext cx="17076896" cy="20557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61202" y="30029347"/>
            <a:ext cx="445484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9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EE89F4-C31D-45E3-BFAA-D8E8790DFB86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558518" y="30029347"/>
            <a:ext cx="6682264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9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983255" y="30029347"/>
            <a:ext cx="445484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9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EA510-ADDF-4DBA-8516-F528B7CFC4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466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979950" rtl="0" eaLnBrk="1" latinLnBrk="0" hangingPunct="1">
        <a:lnSpc>
          <a:spcPct val="90000"/>
        </a:lnSpc>
        <a:spcBef>
          <a:spcPct val="0"/>
        </a:spcBef>
        <a:buNone/>
        <a:defRPr sz="952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94988" indent="-494988" algn="l" defTabSz="1979950" rtl="0" eaLnBrk="1" latinLnBrk="0" hangingPunct="1">
        <a:lnSpc>
          <a:spcPct val="90000"/>
        </a:lnSpc>
        <a:spcBef>
          <a:spcPts val="2165"/>
        </a:spcBef>
        <a:buFont typeface="Arial" panose="020B0604020202020204" pitchFamily="34" charset="0"/>
        <a:buChar char="•"/>
        <a:defRPr sz="6063" kern="1200">
          <a:solidFill>
            <a:schemeClr val="tx1"/>
          </a:solidFill>
          <a:latin typeface="+mn-lt"/>
          <a:ea typeface="+mn-ea"/>
          <a:cs typeface="+mn-cs"/>
        </a:defRPr>
      </a:lvl1pPr>
      <a:lvl2pPr marL="1484963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2pPr>
      <a:lvl3pPr marL="2474938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4331" kern="1200">
          <a:solidFill>
            <a:schemeClr val="tx1"/>
          </a:solidFill>
          <a:latin typeface="+mn-lt"/>
          <a:ea typeface="+mn-ea"/>
          <a:cs typeface="+mn-cs"/>
        </a:defRPr>
      </a:lvl3pPr>
      <a:lvl4pPr marL="3464913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4pPr>
      <a:lvl5pPr marL="4454888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5pPr>
      <a:lvl6pPr marL="5444863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6pPr>
      <a:lvl7pPr marL="6434839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7pPr>
      <a:lvl8pPr marL="7424814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8pPr>
      <a:lvl9pPr marL="8414789" indent="-494988" algn="l" defTabSz="197995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8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1pPr>
      <a:lvl2pPr marL="989975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2pPr>
      <a:lvl3pPr marL="1979950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3pPr>
      <a:lvl4pPr marL="2969925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4pPr>
      <a:lvl5pPr marL="3959901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5pPr>
      <a:lvl6pPr marL="4949876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6pPr>
      <a:lvl7pPr marL="5939851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7pPr>
      <a:lvl8pPr marL="6929826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8pPr>
      <a:lvl9pPr marL="7919801" algn="l" defTabSz="1979950" rtl="0" eaLnBrk="1" latinLnBrk="0" hangingPunct="1">
        <a:defRPr sz="38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microsoft.com/office/2007/relationships/hdphoto" Target="../media/hdphoto1.wdp"/><Relationship Id="rId7" Type="http://schemas.openxmlformats.org/officeDocument/2006/relationships/image" Target="../media/image5.jp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 scaling="33"/>
                    </a14:imgEffect>
                    <a14:imgEffect>
                      <a14:colorTemperature colorTemp="7200"/>
                    </a14:imgEffect>
                    <a14:imgEffect>
                      <a14:saturation sat="210000"/>
                    </a14:imgEffect>
                  </a14:imgLayer>
                </a14:imgProps>
              </a:ext>
            </a:extLst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-358386" y="16089037"/>
            <a:ext cx="184731" cy="310085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endParaRPr lang="he-IL" sz="1415" dirty="0"/>
          </a:p>
        </p:txBody>
      </p:sp>
      <p:sp>
        <p:nvSpPr>
          <p:cNvPr id="12" name="Rounded Rectangle 6"/>
          <p:cNvSpPr/>
          <p:nvPr/>
        </p:nvSpPr>
        <p:spPr>
          <a:xfrm>
            <a:off x="10262461" y="5420063"/>
            <a:ext cx="9327670" cy="6221357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en-US" sz="3493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2</a:t>
            </a:r>
            <a:r>
              <a:rPr lang="en-US" sz="4042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3464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Introduction</a:t>
            </a:r>
            <a:r>
              <a:rPr lang="en-US" sz="4042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:</a:t>
            </a:r>
            <a:endParaRPr lang="en-US" sz="3609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r>
              <a:rPr lang="en-US" sz="3031" dirty="0">
                <a:solidFill>
                  <a:srgbClr val="202124"/>
                </a:solidFill>
                <a:latin typeface="Arial" panose="020B0604020202020204" pitchFamily="34" charset="0"/>
              </a:rPr>
              <a:t>Data compression is the process of encoding, restructuring, or otherwise modifying data in order to reduce its size</a:t>
            </a:r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  <a:endParaRPr lang="en-US" sz="3031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In our </a:t>
            </a:r>
            <a:r>
              <a:rPr lang="en-US" sz="3031" dirty="0">
                <a:solidFill>
                  <a:srgbClr val="202124"/>
                </a:solidFill>
                <a:latin typeface="Arial" panose="020B0604020202020204" pitchFamily="34" charset="0"/>
              </a:rPr>
              <a:t>Data compression </a:t>
            </a:r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research, we specified the Haar wavelet transform, which is a simple discrete transform.</a:t>
            </a:r>
            <a:endParaRPr lang="en-US" sz="3031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We compare the compression performance of two main Haar algorithms applied for lossless compression of integer sequences.</a:t>
            </a:r>
            <a:endParaRPr lang="en-US" sz="3031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en-US" sz="3031" i="1" dirty="0">
                <a:solidFill>
                  <a:srgbClr val="000000"/>
                </a:solidFill>
                <a:latin typeface="Arial" panose="020B0604020202020204" pitchFamily="34" charset="0"/>
              </a:rPr>
              <a:t>Haar Integer </a:t>
            </a:r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and </a:t>
            </a:r>
            <a:r>
              <a:rPr lang="en-US" sz="3031" i="1" dirty="0">
                <a:solidFill>
                  <a:srgbClr val="000000"/>
                </a:solidFill>
                <a:latin typeface="Arial" panose="020B0604020202020204" pitchFamily="34" charset="0"/>
              </a:rPr>
              <a:t>Haar New Transform</a:t>
            </a:r>
            <a:r>
              <a:rPr lang="en-US" sz="3031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  <a:endParaRPr lang="en-US" sz="3031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  <p:sp>
        <p:nvSpPr>
          <p:cNvPr id="17" name="Rounded Rectangle 6"/>
          <p:cNvSpPr/>
          <p:nvPr/>
        </p:nvSpPr>
        <p:spPr>
          <a:xfrm>
            <a:off x="230547" y="10957005"/>
            <a:ext cx="8456720" cy="7540215"/>
          </a:xfrm>
          <a:prstGeom prst="round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defRPr/>
            </a:pPr>
            <a:r>
              <a:rPr lang="he-IL" sz="3464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3</a:t>
            </a:r>
            <a:r>
              <a:rPr lang="en-US" sz="3464" b="1" dirty="0">
                <a:latin typeface="Arial" panose="020B0604020202020204" pitchFamily="34" charset="0"/>
                <a:ea typeface="Tahoma" pitchFamily="34" charset="0"/>
                <a:cs typeface="Arial" pitchFamily="34" charset="0"/>
              </a:rPr>
              <a:t>. </a:t>
            </a:r>
            <a:r>
              <a:rPr lang="en-US" sz="3464" u="sng" dirty="0">
                <a:latin typeface="Arial" panose="020B0604020202020204" pitchFamily="34" charset="0"/>
                <a:cs typeface="Arial" panose="020B0604020202020204" pitchFamily="34" charset="0"/>
              </a:rPr>
              <a:t>Methods and </a:t>
            </a:r>
            <a:r>
              <a:rPr lang="en-US" sz="3464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Selected Approach </a:t>
            </a:r>
            <a:r>
              <a:rPr lang="en-US" sz="3464" u="sng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r>
              <a:rPr lang="en-US" sz="3176" dirty="0">
                <a:solidFill>
                  <a:schemeClr val="tx1"/>
                </a:solidFill>
                <a:latin typeface="Arial" panose="020B0604020202020204" pitchFamily="34" charset="0"/>
              </a:rPr>
              <a:t>The method to compare the efficiency of the  algorithms was to measure the bit size compressed </a:t>
            </a:r>
            <a:r>
              <a:rPr lang="he-IL" sz="3176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sz="3176" dirty="0">
                <a:solidFill>
                  <a:schemeClr val="tx1"/>
                </a:solidFill>
                <a:latin typeface="Arial" panose="020B0604020202020204" pitchFamily="34" charset="0"/>
              </a:rPr>
              <a:t>message. </a:t>
            </a: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US" sz="2887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br>
              <a:rPr lang="en-US" sz="2887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sz="2887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the implementations were made in C++ </a:t>
            </a:r>
            <a:endParaRPr lang="en-US" sz="2887" dirty="0">
              <a:solidFill>
                <a:srgbClr val="22222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endParaRPr lang="en-US" sz="2887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2887" b="1" dirty="0">
                <a:latin typeface="Arial" pitchFamily="34" charset="0"/>
                <a:ea typeface="Tahoma" pitchFamily="34" charset="0"/>
                <a:cs typeface="Arial" pitchFamily="34" charset="0"/>
              </a:rPr>
              <a:t>   </a:t>
            </a:r>
            <a:br>
              <a:rPr lang="en-US" sz="2887" b="1" dirty="0">
                <a:latin typeface="Arial" pitchFamily="34" charset="0"/>
                <a:ea typeface="Tahoma" pitchFamily="34" charset="0"/>
                <a:cs typeface="Arial" pitchFamily="34" charset="0"/>
              </a:rPr>
            </a:br>
            <a:r>
              <a:rPr lang="he-IL" sz="2887" b="1" dirty="0">
                <a:latin typeface="Arial" pitchFamily="34" charset="0"/>
                <a:ea typeface="Tahoma" pitchFamily="34" charset="0"/>
                <a:cs typeface="Arial" pitchFamily="34" charset="0"/>
              </a:rPr>
              <a:t> </a:t>
            </a:r>
            <a:endParaRPr lang="en-US" sz="2887" b="1" dirty="0"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29" name="Rounded Rectangle 6"/>
          <p:cNvSpPr/>
          <p:nvPr/>
        </p:nvSpPr>
        <p:spPr>
          <a:xfrm>
            <a:off x="9069288" y="12275863"/>
            <a:ext cx="10644295" cy="6221357"/>
          </a:xfrm>
          <a:prstGeom prst="roundRect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1" anchor="t"/>
          <a:lstStyle/>
          <a:p>
            <a:pPr algn="l">
              <a:defRPr/>
            </a:pPr>
            <a:r>
              <a:rPr lang="en-US" sz="3464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4. </a:t>
            </a:r>
            <a:r>
              <a:rPr lang="en-US" sz="3176" i="1" u="sng" dirty="0">
                <a:solidFill>
                  <a:srgbClr val="000000"/>
                </a:solidFill>
                <a:latin typeface="Arial" panose="020B0604020202020204" pitchFamily="34" charset="0"/>
              </a:rPr>
              <a:t>Haar Integer </a:t>
            </a:r>
            <a:r>
              <a:rPr lang="en-US" sz="3176" u="sng" dirty="0">
                <a:solidFill>
                  <a:srgbClr val="000000"/>
                </a:solidFill>
                <a:latin typeface="Arial" panose="020B0604020202020204" pitchFamily="34" charset="0"/>
              </a:rPr>
              <a:t>and </a:t>
            </a:r>
            <a:r>
              <a:rPr lang="en-US" sz="3176" i="1" u="sng" dirty="0">
                <a:solidFill>
                  <a:srgbClr val="000000"/>
                </a:solidFill>
                <a:latin typeface="Arial" panose="020B0604020202020204" pitchFamily="34" charset="0"/>
              </a:rPr>
              <a:t>Haar New Transform pseudo codes</a:t>
            </a:r>
            <a:r>
              <a:rPr lang="en-US" sz="3176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: </a:t>
            </a:r>
            <a:br>
              <a:rPr lang="en-US" sz="3464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</a:br>
            <a:endParaRPr lang="en-US" sz="3464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36" name="Rounded Rectangle 6"/>
          <p:cNvSpPr/>
          <p:nvPr/>
        </p:nvSpPr>
        <p:spPr>
          <a:xfrm>
            <a:off x="73694" y="19206304"/>
            <a:ext cx="19393633" cy="13297723"/>
          </a:xfrm>
          <a:prstGeom prst="roundRect">
            <a:avLst/>
          </a:prstGeom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1" anchor="t"/>
          <a:lstStyle/>
          <a:p>
            <a:pPr rtl="1">
              <a:defRPr/>
            </a:pPr>
            <a:r>
              <a:rPr lang="en-US" sz="3464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5. </a:t>
            </a:r>
            <a:r>
              <a:rPr lang="en-US" sz="3464" u="sng" dirty="0">
                <a:solidFill>
                  <a:prstClr val="black"/>
                </a:solidFill>
                <a:latin typeface="Arial" pitchFamily="34" charset="0"/>
                <a:ea typeface="Tahoma" pitchFamily="34" charset="0"/>
                <a:cs typeface="Arial" pitchFamily="34" charset="0"/>
              </a:rPr>
              <a:t>Solution Description:</a:t>
            </a:r>
            <a:endParaRPr lang="he-IL" sz="3464" u="sng" dirty="0">
              <a:solidFill>
                <a:prstClr val="black"/>
              </a:solidFill>
              <a:latin typeface="Arial" pitchFamily="34" charset="0"/>
              <a:ea typeface="Tahoma" pitchFamily="34" charset="0"/>
              <a:cs typeface="Arial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523339" y="29835670"/>
            <a:ext cx="2167180" cy="430887"/>
          </a:xfrm>
          <a:prstGeom prst="rect">
            <a:avLst/>
          </a:prstGeom>
          <a:solidFill>
            <a:srgbClr val="FFFFFF">
              <a:alpha val="50196"/>
            </a:srgbClr>
          </a:solidFill>
        </p:spPr>
        <p:txBody>
          <a:bodyPr wrap="square" rtlCol="1">
            <a:spAutoFit/>
          </a:bodyPr>
          <a:lstStyle/>
          <a:p>
            <a:pPr algn="ctr"/>
            <a:r>
              <a:rPr lang="en-US" sz="2200" dirty="0">
                <a:latin typeface="Arial" pitchFamily="34" charset="0"/>
                <a:cs typeface="Arial" pitchFamily="34" charset="0"/>
              </a:rPr>
              <a:t>Visit Us</a:t>
            </a:r>
            <a:endParaRPr lang="he-IL" sz="22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74739229-DA93-498A-93F3-E36AC736CA39}"/>
              </a:ext>
            </a:extLst>
          </p:cNvPr>
          <p:cNvSpPr/>
          <p:nvPr/>
        </p:nvSpPr>
        <p:spPr>
          <a:xfrm rot="10800000">
            <a:off x="9069290" y="7166940"/>
            <a:ext cx="1148992" cy="69788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1415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5ACDA5A-2EDD-4539-A5A7-1A7E2E4C029F}"/>
              </a:ext>
            </a:extLst>
          </p:cNvPr>
          <p:cNvSpPr/>
          <p:nvPr/>
        </p:nvSpPr>
        <p:spPr>
          <a:xfrm rot="10800000">
            <a:off x="8522370" y="10892927"/>
            <a:ext cx="2221829" cy="9725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1415" dirty="0"/>
          </a:p>
        </p:txBody>
      </p:sp>
      <p:sp>
        <p:nvSpPr>
          <p:cNvPr id="52" name="Arrow: Left 51">
            <a:extLst>
              <a:ext uri="{FF2B5EF4-FFF2-40B4-BE49-F238E27FC236}">
                <a16:creationId xmlns:a16="http://schemas.microsoft.com/office/drawing/2014/main" id="{B42B5E19-1352-4CD7-BA33-5F59FA87A388}"/>
              </a:ext>
            </a:extLst>
          </p:cNvPr>
          <p:cNvSpPr/>
          <p:nvPr/>
        </p:nvSpPr>
        <p:spPr>
          <a:xfrm rot="16200000">
            <a:off x="13782139" y="11548115"/>
            <a:ext cx="578236" cy="75191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1415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34A1CC8-3731-4427-9E37-E524BEB70E91}"/>
              </a:ext>
            </a:extLst>
          </p:cNvPr>
          <p:cNvSpPr/>
          <p:nvPr/>
        </p:nvSpPr>
        <p:spPr>
          <a:xfrm>
            <a:off x="3497876" y="18510335"/>
            <a:ext cx="1082203" cy="8574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 rtl="1"/>
            <a:endParaRPr lang="en-US" sz="1415"/>
          </a:p>
        </p:txBody>
      </p:sp>
      <p:sp>
        <p:nvSpPr>
          <p:cNvPr id="18" name="Rounded Rectangle 6">
            <a:extLst>
              <a:ext uri="{FF2B5EF4-FFF2-40B4-BE49-F238E27FC236}">
                <a16:creationId xmlns:a16="http://schemas.microsoft.com/office/drawing/2014/main" id="{833CA314-16B2-48AE-972C-270F5704890A}"/>
              </a:ext>
            </a:extLst>
          </p:cNvPr>
          <p:cNvSpPr/>
          <p:nvPr/>
        </p:nvSpPr>
        <p:spPr>
          <a:xfrm>
            <a:off x="350883" y="5619338"/>
            <a:ext cx="8674221" cy="4886974"/>
          </a:xfrm>
          <a:prstGeom prst="round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1" anchor="t"/>
          <a:lstStyle/>
          <a:p>
            <a:pPr>
              <a:buFontTx/>
              <a:buAutoNum type="arabicPeriod"/>
              <a:defRPr/>
            </a:pPr>
            <a:r>
              <a:rPr lang="en-US" sz="4042" u="sng" dirty="0">
                <a:latin typeface="Arial" panose="020B0604020202020204" pitchFamily="34" charset="0"/>
                <a:cs typeface="Arial" panose="020B0604020202020204" pitchFamily="34" charset="0"/>
              </a:rPr>
              <a:t>project goal:  </a:t>
            </a:r>
          </a:p>
          <a:p>
            <a:pPr>
              <a:defRPr/>
            </a:pPr>
            <a:r>
              <a:rPr lang="en-US" sz="3609" dirty="0">
                <a:solidFill>
                  <a:srgbClr val="000000"/>
                </a:solidFill>
                <a:latin typeface="Arial" panose="020B0604020202020204" pitchFamily="34" charset="0"/>
              </a:rPr>
              <a:t>Analyze and compare different  algorithms presented in the paper </a:t>
            </a:r>
            <a:r>
              <a:rPr lang="en-US" sz="3609" dirty="0">
                <a:solidFill>
                  <a:schemeClr val="tx1"/>
                </a:solidFill>
                <a:latin typeface="Arial" panose="020B0604020202020204" pitchFamily="34" charset="0"/>
              </a:rPr>
              <a:t> “New Compression Schemes for Natural Number Sequences” ,</a:t>
            </a:r>
            <a:r>
              <a:rPr lang="en-US" sz="3609" dirty="0">
                <a:solidFill>
                  <a:srgbClr val="000000"/>
                </a:solidFill>
                <a:latin typeface="Arial" panose="020B0604020202020204" pitchFamily="34" charset="0"/>
              </a:rPr>
              <a:t> that use the Haar transform for data compression. </a:t>
            </a:r>
            <a:endParaRPr lang="en-US" sz="3609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49D1D0-6211-48F5-B887-977D5BA10AE3}"/>
              </a:ext>
            </a:extLst>
          </p:cNvPr>
          <p:cNvCxnSpPr>
            <a:cxnSpLocks/>
          </p:cNvCxnSpPr>
          <p:nvPr/>
        </p:nvCxnSpPr>
        <p:spPr>
          <a:xfrm>
            <a:off x="15588674" y="30859597"/>
            <a:ext cx="12623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6CFC95C-2546-AA42-06DB-F6A83ED431C2}"/>
              </a:ext>
            </a:extLst>
          </p:cNvPr>
          <p:cNvSpPr/>
          <p:nvPr/>
        </p:nvSpPr>
        <p:spPr>
          <a:xfrm>
            <a:off x="17606929" y="624887"/>
            <a:ext cx="1732441" cy="15009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322" dirty="0"/>
              <a:t>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E06C4-1B62-4427-98E9-3F44949EBC0B}"/>
              </a:ext>
            </a:extLst>
          </p:cNvPr>
          <p:cNvSpPr/>
          <p:nvPr/>
        </p:nvSpPr>
        <p:spPr>
          <a:xfrm>
            <a:off x="-4958621" y="-13411390"/>
            <a:ext cx="181473" cy="46073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835" tIns="35915" rIns="71835" bIns="3591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8084" dirty="0"/>
          </a:p>
        </p:txBody>
      </p:sp>
      <p:pic>
        <p:nvPicPr>
          <p:cNvPr id="19" name="תמונה 18">
            <a:extLst>
              <a:ext uri="{FF2B5EF4-FFF2-40B4-BE49-F238E27FC236}">
                <a16:creationId xmlns:a16="http://schemas.microsoft.com/office/drawing/2014/main" id="{C73F2B34-3D9E-0918-6D79-A9E4F21513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18906" y="30373769"/>
            <a:ext cx="1350741" cy="1350741"/>
          </a:xfrm>
          <a:prstGeom prst="rect">
            <a:avLst/>
          </a:prstGeom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A6E5B8EA-65D1-9B0F-5F4E-ADB541E066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1972" y="13748013"/>
            <a:ext cx="5522503" cy="4243673"/>
          </a:xfrm>
          <a:prstGeom prst="rect">
            <a:avLst/>
          </a:prstGeom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E7670314-2C54-21E1-3D5F-EECD027606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43610" y="13741622"/>
            <a:ext cx="5346521" cy="4187413"/>
          </a:xfrm>
          <a:prstGeom prst="rect">
            <a:avLst/>
          </a:prstGeom>
        </p:spPr>
      </p:pic>
      <p:sp>
        <p:nvSpPr>
          <p:cNvPr id="27" name="מלבן 26">
            <a:extLst>
              <a:ext uri="{FF2B5EF4-FFF2-40B4-BE49-F238E27FC236}">
                <a16:creationId xmlns:a16="http://schemas.microsoft.com/office/drawing/2014/main" id="{FBE142B5-9FA1-A490-362F-2DCE6F1DC1C7}"/>
              </a:ext>
            </a:extLst>
          </p:cNvPr>
          <p:cNvSpPr/>
          <p:nvPr/>
        </p:nvSpPr>
        <p:spPr>
          <a:xfrm>
            <a:off x="7786255" y="30486976"/>
            <a:ext cx="7709549" cy="60156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תיבת טקסט 27">
            <a:extLst>
              <a:ext uri="{FF2B5EF4-FFF2-40B4-BE49-F238E27FC236}">
                <a16:creationId xmlns:a16="http://schemas.microsoft.com/office/drawing/2014/main" id="{6790A299-C0EF-1437-C729-6EA6F571CDC8}"/>
              </a:ext>
            </a:extLst>
          </p:cNvPr>
          <p:cNvSpPr txBox="1"/>
          <p:nvPr/>
        </p:nvSpPr>
        <p:spPr>
          <a:xfrm>
            <a:off x="7403692" y="30529796"/>
            <a:ext cx="7758615" cy="558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en-US" sz="3031" dirty="0"/>
              <a:t>Scan </a:t>
            </a:r>
            <a:r>
              <a:rPr lang="en-US" sz="3031" dirty="0" err="1"/>
              <a:t>QRCode</a:t>
            </a:r>
            <a:r>
              <a:rPr lang="en-US" sz="3031" dirty="0"/>
              <a:t> for full Instructions(</a:t>
            </a:r>
            <a:r>
              <a:rPr lang="en-US" sz="3031" dirty="0" err="1"/>
              <a:t>github</a:t>
            </a:r>
            <a:r>
              <a:rPr lang="en-US" sz="3031" dirty="0"/>
              <a:t>)</a:t>
            </a:r>
          </a:p>
        </p:txBody>
      </p:sp>
      <p:pic>
        <p:nvPicPr>
          <p:cNvPr id="31" name="תמונה 30">
            <a:extLst>
              <a:ext uri="{FF2B5EF4-FFF2-40B4-BE49-F238E27FC236}">
                <a16:creationId xmlns:a16="http://schemas.microsoft.com/office/drawing/2014/main" id="{E47411B7-9390-F743-2C58-728A9F442C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493" y="-16119"/>
            <a:ext cx="4666036" cy="2031325"/>
          </a:xfrm>
          <a:prstGeom prst="rect">
            <a:avLst/>
          </a:prstGeom>
        </p:spPr>
      </p:pic>
      <p:graphicFrame>
        <p:nvGraphicFramePr>
          <p:cNvPr id="4" name="טבלה 3">
            <a:extLst>
              <a:ext uri="{FF2B5EF4-FFF2-40B4-BE49-F238E27FC236}">
                <a16:creationId xmlns:a16="http://schemas.microsoft.com/office/drawing/2014/main" id="{BFB8E754-438B-1640-27C4-B36173B30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493667"/>
              </p:ext>
            </p:extLst>
          </p:nvPr>
        </p:nvGraphicFramePr>
        <p:xfrm>
          <a:off x="387312" y="13598812"/>
          <a:ext cx="8135059" cy="29247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407238">
                  <a:extLst>
                    <a:ext uri="{9D8B030D-6E8A-4147-A177-3AD203B41FA5}">
                      <a16:colId xmlns:a16="http://schemas.microsoft.com/office/drawing/2014/main" val="399169425"/>
                    </a:ext>
                  </a:extLst>
                </a:gridCol>
                <a:gridCol w="4727821">
                  <a:extLst>
                    <a:ext uri="{9D8B030D-6E8A-4147-A177-3AD203B41FA5}">
                      <a16:colId xmlns:a16="http://schemas.microsoft.com/office/drawing/2014/main" val="2319214804"/>
                    </a:ext>
                  </a:extLst>
                </a:gridCol>
              </a:tblGrid>
              <a:tr h="86052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effectLst/>
                        </a:rPr>
                        <a:t>Algorithms: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effectLst/>
                        </a:rPr>
                        <a:t>compression algorithms :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4074764049"/>
                  </a:ext>
                </a:extLst>
              </a:tr>
              <a:tr h="49498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>
                          <a:effectLst/>
                        </a:rPr>
                        <a:t>Haar integer </a:t>
                      </a:r>
                      <a:endParaRPr lang="en-US" sz="3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effectLst/>
                        </a:rPr>
                        <a:t> *Elias code 𝑪𝜹</a:t>
                      </a:r>
                      <a:br>
                        <a:rPr lang="en-US" sz="3200" dirty="0">
                          <a:effectLst/>
                        </a:rPr>
                      </a:br>
                      <a:r>
                        <a:rPr lang="en-US" sz="3200" dirty="0">
                          <a:effectLst/>
                        </a:rPr>
                        <a:t>* binary coding</a:t>
                      </a:r>
                      <a:br>
                        <a:rPr lang="en-US" sz="3200" dirty="0">
                          <a:effectLst/>
                        </a:rPr>
                      </a:br>
                      <a:r>
                        <a:rPr lang="en-US" sz="3200" dirty="0">
                          <a:effectLst/>
                        </a:rPr>
                        <a:t>* unary coding.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dirty="0">
                          <a:effectLst/>
                        </a:rPr>
                        <a:t> 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1707286652"/>
                  </a:ext>
                </a:extLst>
              </a:tr>
              <a:tr h="155369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u="none" dirty="0">
                          <a:effectLst/>
                        </a:rPr>
                        <a:t>Haar New Transform</a:t>
                      </a:r>
                      <a:endParaRPr lang="en-US" sz="3200" u="none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727031"/>
                  </a:ext>
                </a:extLst>
              </a:tr>
            </a:tbl>
          </a:graphicData>
        </a:graphic>
      </p:graphicFrame>
      <p:pic>
        <p:nvPicPr>
          <p:cNvPr id="9" name="תמונה 8">
            <a:extLst>
              <a:ext uri="{FF2B5EF4-FFF2-40B4-BE49-F238E27FC236}">
                <a16:creationId xmlns:a16="http://schemas.microsoft.com/office/drawing/2014/main" id="{390C8447-A05E-F164-7728-C7F00286A4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2050" y="22291912"/>
            <a:ext cx="4259716" cy="342942"/>
          </a:xfrm>
          <a:prstGeom prst="rect">
            <a:avLst/>
          </a:prstGeom>
        </p:spPr>
      </p:pic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AA55D936-FF51-0410-300D-75A20C5E0F9E}"/>
              </a:ext>
            </a:extLst>
          </p:cNvPr>
          <p:cNvSpPr txBox="1"/>
          <p:nvPr/>
        </p:nvSpPr>
        <p:spPr>
          <a:xfrm>
            <a:off x="1262048" y="22251757"/>
            <a:ext cx="4221615" cy="53364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78B7112A-AD3B-5275-1104-014E5B0E79DC}"/>
              </a:ext>
            </a:extLst>
          </p:cNvPr>
          <p:cNvSpPr/>
          <p:nvPr/>
        </p:nvSpPr>
        <p:spPr>
          <a:xfrm>
            <a:off x="5717892" y="22365681"/>
            <a:ext cx="1845729" cy="4197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pic>
        <p:nvPicPr>
          <p:cNvPr id="22" name="תמונה 21">
            <a:extLst>
              <a:ext uri="{FF2B5EF4-FFF2-40B4-BE49-F238E27FC236}">
                <a16:creationId xmlns:a16="http://schemas.microsoft.com/office/drawing/2014/main" id="{7C265335-37B6-A439-6B94-3DA61250569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94352" y="22556904"/>
            <a:ext cx="5705458" cy="1905892"/>
          </a:xfrm>
          <a:prstGeom prst="rect">
            <a:avLst/>
          </a:prstGeom>
        </p:spPr>
      </p:pic>
      <p:pic>
        <p:nvPicPr>
          <p:cNvPr id="30" name="תמונה 29">
            <a:extLst>
              <a:ext uri="{FF2B5EF4-FFF2-40B4-BE49-F238E27FC236}">
                <a16:creationId xmlns:a16="http://schemas.microsoft.com/office/drawing/2014/main" id="{81E1AD87-4853-2C35-94C6-577ADCF1C45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456722" y="22292231"/>
            <a:ext cx="5925776" cy="1991963"/>
          </a:xfrm>
          <a:prstGeom prst="rect">
            <a:avLst/>
          </a:prstGeom>
        </p:spPr>
      </p:pic>
      <p:sp>
        <p:nvSpPr>
          <p:cNvPr id="32" name="תיבת טקסט 31">
            <a:extLst>
              <a:ext uri="{FF2B5EF4-FFF2-40B4-BE49-F238E27FC236}">
                <a16:creationId xmlns:a16="http://schemas.microsoft.com/office/drawing/2014/main" id="{4501819F-64CC-D255-47C5-F30C52F64D57}"/>
              </a:ext>
            </a:extLst>
          </p:cNvPr>
          <p:cNvSpPr txBox="1"/>
          <p:nvPr/>
        </p:nvSpPr>
        <p:spPr>
          <a:xfrm>
            <a:off x="13566634" y="21848195"/>
            <a:ext cx="2852976" cy="358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32" b="1" i="1" dirty="0" err="1">
                <a:solidFill>
                  <a:schemeClr val="accent1"/>
                </a:solidFill>
                <a:latin typeface="Arial" panose="020B0604020202020204" pitchFamily="34" charset="0"/>
              </a:rPr>
              <a:t>Haar</a:t>
            </a:r>
            <a:r>
              <a:rPr lang="en-US" sz="1732" b="1" i="1" dirty="0">
                <a:solidFill>
                  <a:schemeClr val="accent1"/>
                </a:solidFill>
                <a:latin typeface="Arial" panose="020B0604020202020204" pitchFamily="34" charset="0"/>
              </a:rPr>
              <a:t> New Transform</a:t>
            </a:r>
            <a:r>
              <a:rPr lang="en-US" sz="1732" b="1" dirty="0">
                <a:solidFill>
                  <a:schemeClr val="accent1"/>
                </a:solidFill>
                <a:latin typeface="SFSL1095"/>
              </a:rPr>
              <a:t>:</a:t>
            </a:r>
            <a:endParaRPr lang="en-US" sz="1732" b="1" dirty="0">
              <a:solidFill>
                <a:schemeClr val="accent1"/>
              </a:solidFill>
            </a:endParaRPr>
          </a:p>
        </p:txBody>
      </p:sp>
      <p:sp>
        <p:nvSpPr>
          <p:cNvPr id="37" name="תיבת טקסט 36">
            <a:extLst>
              <a:ext uri="{FF2B5EF4-FFF2-40B4-BE49-F238E27FC236}">
                <a16:creationId xmlns:a16="http://schemas.microsoft.com/office/drawing/2014/main" id="{05618B04-D8F7-8709-5260-01218EE688D4}"/>
              </a:ext>
            </a:extLst>
          </p:cNvPr>
          <p:cNvSpPr txBox="1"/>
          <p:nvPr/>
        </p:nvSpPr>
        <p:spPr>
          <a:xfrm>
            <a:off x="7815440" y="22097862"/>
            <a:ext cx="2009522" cy="358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32" b="1" dirty="0">
                <a:solidFill>
                  <a:schemeClr val="accent1"/>
                </a:solidFill>
                <a:latin typeface="SFSL1095"/>
              </a:rPr>
              <a:t>Integer-</a:t>
            </a:r>
            <a:r>
              <a:rPr lang="en-US" sz="1732" b="1" dirty="0" err="1">
                <a:solidFill>
                  <a:schemeClr val="accent1"/>
                </a:solidFill>
                <a:latin typeface="SFSL1095"/>
              </a:rPr>
              <a:t>Haar</a:t>
            </a:r>
            <a:r>
              <a:rPr lang="en-US" sz="1732" b="1" dirty="0">
                <a:solidFill>
                  <a:schemeClr val="accent1"/>
                </a:solidFill>
                <a:latin typeface="SFSL1095"/>
              </a:rPr>
              <a:t>:</a:t>
            </a:r>
            <a:endParaRPr lang="en-US" sz="1732" b="1" dirty="0">
              <a:solidFill>
                <a:schemeClr val="accent1"/>
              </a:solidFill>
            </a:endParaRPr>
          </a:p>
        </p:txBody>
      </p:sp>
      <p:sp>
        <p:nvSpPr>
          <p:cNvPr id="34" name="תיבת טקסט 33">
            <a:extLst>
              <a:ext uri="{FF2B5EF4-FFF2-40B4-BE49-F238E27FC236}">
                <a16:creationId xmlns:a16="http://schemas.microsoft.com/office/drawing/2014/main" id="{C4210229-7C1D-DB97-0619-45ADC98C5627}"/>
              </a:ext>
            </a:extLst>
          </p:cNvPr>
          <p:cNvSpPr txBox="1"/>
          <p:nvPr/>
        </p:nvSpPr>
        <p:spPr>
          <a:xfrm>
            <a:off x="7563621" y="29472847"/>
            <a:ext cx="11091503" cy="255672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39" name="תיבת טקסט 38">
            <a:extLst>
              <a:ext uri="{FF2B5EF4-FFF2-40B4-BE49-F238E27FC236}">
                <a16:creationId xmlns:a16="http://schemas.microsoft.com/office/drawing/2014/main" id="{75713DEC-AB2F-4F35-3570-1D0AC97B0784}"/>
              </a:ext>
            </a:extLst>
          </p:cNvPr>
          <p:cNvSpPr txBox="1"/>
          <p:nvPr/>
        </p:nvSpPr>
        <p:spPr>
          <a:xfrm>
            <a:off x="7700858" y="21900248"/>
            <a:ext cx="5828010" cy="255672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40" name="תיבת טקסט 39">
            <a:extLst>
              <a:ext uri="{FF2B5EF4-FFF2-40B4-BE49-F238E27FC236}">
                <a16:creationId xmlns:a16="http://schemas.microsoft.com/office/drawing/2014/main" id="{16715C6A-BEE1-D487-8BE5-7A98AF5BCEE5}"/>
              </a:ext>
            </a:extLst>
          </p:cNvPr>
          <p:cNvSpPr txBox="1"/>
          <p:nvPr/>
        </p:nvSpPr>
        <p:spPr>
          <a:xfrm>
            <a:off x="13587726" y="21887517"/>
            <a:ext cx="5891626" cy="255672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41" name="חץ: למטה 40">
            <a:extLst>
              <a:ext uri="{FF2B5EF4-FFF2-40B4-BE49-F238E27FC236}">
                <a16:creationId xmlns:a16="http://schemas.microsoft.com/office/drawing/2014/main" id="{3D45D43E-BA1B-F5B3-82A6-3936B3CA916A}"/>
              </a:ext>
            </a:extLst>
          </p:cNvPr>
          <p:cNvSpPr/>
          <p:nvPr/>
        </p:nvSpPr>
        <p:spPr>
          <a:xfrm>
            <a:off x="16655202" y="24467005"/>
            <a:ext cx="493958" cy="12361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43" name="תיבת טקסט 42">
            <a:extLst>
              <a:ext uri="{FF2B5EF4-FFF2-40B4-BE49-F238E27FC236}">
                <a16:creationId xmlns:a16="http://schemas.microsoft.com/office/drawing/2014/main" id="{1CEF0392-AAA6-E2A3-22D8-968F8542214B}"/>
              </a:ext>
            </a:extLst>
          </p:cNvPr>
          <p:cNvSpPr txBox="1"/>
          <p:nvPr/>
        </p:nvSpPr>
        <p:spPr>
          <a:xfrm>
            <a:off x="7676994" y="21823439"/>
            <a:ext cx="11961898" cy="255672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graphicFrame>
        <p:nvGraphicFramePr>
          <p:cNvPr id="58" name="טבלה 57">
            <a:extLst>
              <a:ext uri="{FF2B5EF4-FFF2-40B4-BE49-F238E27FC236}">
                <a16:creationId xmlns:a16="http://schemas.microsoft.com/office/drawing/2014/main" id="{55A8135B-5488-A08D-716E-F0D0846E3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35735"/>
              </p:ext>
            </p:extLst>
          </p:nvPr>
        </p:nvGraphicFramePr>
        <p:xfrm>
          <a:off x="12041879" y="25810325"/>
          <a:ext cx="7263831" cy="305599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00848">
                  <a:extLst>
                    <a:ext uri="{9D8B030D-6E8A-4147-A177-3AD203B41FA5}">
                      <a16:colId xmlns:a16="http://schemas.microsoft.com/office/drawing/2014/main" val="4031532458"/>
                    </a:ext>
                  </a:extLst>
                </a:gridCol>
                <a:gridCol w="1689533">
                  <a:extLst>
                    <a:ext uri="{9D8B030D-6E8A-4147-A177-3AD203B41FA5}">
                      <a16:colId xmlns:a16="http://schemas.microsoft.com/office/drawing/2014/main" val="1457485924"/>
                    </a:ext>
                  </a:extLst>
                </a:gridCol>
                <a:gridCol w="1032406">
                  <a:extLst>
                    <a:ext uri="{9D8B030D-6E8A-4147-A177-3AD203B41FA5}">
                      <a16:colId xmlns:a16="http://schemas.microsoft.com/office/drawing/2014/main" val="1973839703"/>
                    </a:ext>
                  </a:extLst>
                </a:gridCol>
                <a:gridCol w="1641044">
                  <a:extLst>
                    <a:ext uri="{9D8B030D-6E8A-4147-A177-3AD203B41FA5}">
                      <a16:colId xmlns:a16="http://schemas.microsoft.com/office/drawing/2014/main" val="1906404286"/>
                    </a:ext>
                  </a:extLst>
                </a:gridCol>
              </a:tblGrid>
              <a:tr h="132270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         </a:t>
                      </a:r>
                      <a:r>
                        <a:rPr lang="en-US" sz="1400" dirty="0">
                          <a:effectLst/>
                        </a:rPr>
                        <a:t>Compression algorithm</a:t>
                      </a:r>
                    </a:p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 err="1">
                          <a:effectLst/>
                        </a:rPr>
                        <a:t>Haar</a:t>
                      </a:r>
                      <a:r>
                        <a:rPr lang="en-US" sz="1400" dirty="0">
                          <a:effectLst/>
                        </a:rPr>
                        <a:t> algorithm</a:t>
                      </a:r>
                      <a:endParaRPr lang="en-US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2600" dirty="0">
                          <a:effectLst/>
                        </a:rPr>
                      </a:br>
                      <a:r>
                        <a:rPr lang="en-US" sz="1700" dirty="0">
                          <a:effectLst/>
                        </a:rPr>
                        <a:t>Elias code 𝑪𝜹  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2600" dirty="0">
                          <a:effectLst/>
                        </a:rPr>
                      </a:br>
                      <a:r>
                        <a:rPr lang="en-US" sz="1700" dirty="0">
                          <a:effectLst/>
                        </a:rPr>
                        <a:t>binary coding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br>
                        <a:rPr lang="en-US" sz="2600" dirty="0">
                          <a:effectLst/>
                        </a:rPr>
                      </a:br>
                      <a:r>
                        <a:rPr lang="en-US" sz="1700" dirty="0">
                          <a:effectLst/>
                        </a:rPr>
                        <a:t>unary coding</a:t>
                      </a:r>
                      <a:endParaRPr lang="en-US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562124973"/>
                  </a:ext>
                </a:extLst>
              </a:tr>
              <a:tr h="761719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Haar</a:t>
                      </a:r>
                      <a:r>
                        <a:rPr lang="en-US" sz="2000" dirty="0">
                          <a:effectLst/>
                        </a:rPr>
                        <a:t> integer: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bit size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97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>
                          <a:effectLst/>
                        </a:rPr>
                        <a:t>51</a:t>
                      </a:r>
                      <a:endParaRPr lang="en-US" sz="3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2,062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206079145"/>
                  </a:ext>
                </a:extLst>
              </a:tr>
              <a:tr h="97157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u="sng" dirty="0" err="1">
                          <a:effectLst/>
                        </a:rPr>
                        <a:t>Haar</a:t>
                      </a:r>
                      <a:r>
                        <a:rPr lang="en-US" sz="2000" u="sng" dirty="0">
                          <a:effectLst/>
                        </a:rPr>
                        <a:t> New Transform:</a:t>
                      </a:r>
                      <a:br>
                        <a:rPr lang="en-US" sz="2000" u="sng" dirty="0">
                          <a:effectLst/>
                        </a:rPr>
                      </a:br>
                      <a:r>
                        <a:rPr lang="en-US" sz="2000" u="sng" dirty="0">
                          <a:effectLst/>
                        </a:rPr>
                        <a:t> bit size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>
                          <a:effectLst/>
                        </a:rPr>
                        <a:t>87</a:t>
                      </a:r>
                      <a:endParaRPr lang="en-US" sz="3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51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dirty="0">
                          <a:effectLst/>
                        </a:rPr>
                        <a:t>14,386</a:t>
                      </a:r>
                      <a:endParaRPr lang="en-US" sz="3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97993" marR="197993" marT="0" marB="0"/>
                </a:tc>
                <a:extLst>
                  <a:ext uri="{0D108BD9-81ED-4DB2-BD59-A6C34878D82A}">
                    <a16:rowId xmlns:a16="http://schemas.microsoft.com/office/drawing/2014/main" val="3287606008"/>
                  </a:ext>
                </a:extLst>
              </a:tr>
            </a:tbl>
          </a:graphicData>
        </a:graphic>
      </p:graphicFrame>
      <p:cxnSp>
        <p:nvCxnSpPr>
          <p:cNvPr id="60" name="מחבר ישר 59">
            <a:extLst>
              <a:ext uri="{FF2B5EF4-FFF2-40B4-BE49-F238E27FC236}">
                <a16:creationId xmlns:a16="http://schemas.microsoft.com/office/drawing/2014/main" id="{FE74F668-A5AE-4F02-5A51-385504CC1FC0}"/>
              </a:ext>
            </a:extLst>
          </p:cNvPr>
          <p:cNvCxnSpPr>
            <a:cxnSpLocks/>
          </p:cNvCxnSpPr>
          <p:nvPr/>
        </p:nvCxnSpPr>
        <p:spPr>
          <a:xfrm>
            <a:off x="11946280" y="25899219"/>
            <a:ext cx="2992001" cy="99662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תמונה 62">
            <a:extLst>
              <a:ext uri="{FF2B5EF4-FFF2-40B4-BE49-F238E27FC236}">
                <a16:creationId xmlns:a16="http://schemas.microsoft.com/office/drawing/2014/main" id="{AAE3EFD4-8B7A-D61D-4963-451C6AE578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6290" y="25582286"/>
            <a:ext cx="4595955" cy="2657183"/>
          </a:xfrm>
          <a:prstGeom prst="rect">
            <a:avLst/>
          </a:prstGeom>
        </p:spPr>
      </p:pic>
      <p:pic>
        <p:nvPicPr>
          <p:cNvPr id="65" name="תמונה 64">
            <a:extLst>
              <a:ext uri="{FF2B5EF4-FFF2-40B4-BE49-F238E27FC236}">
                <a16:creationId xmlns:a16="http://schemas.microsoft.com/office/drawing/2014/main" id="{7D6F228C-8C45-6060-E791-3920B7C7076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5222" y="25453121"/>
            <a:ext cx="4595900" cy="2760300"/>
          </a:xfrm>
          <a:prstGeom prst="rect">
            <a:avLst/>
          </a:prstGeom>
        </p:spPr>
      </p:pic>
      <p:pic>
        <p:nvPicPr>
          <p:cNvPr id="67" name="תמונה 66">
            <a:extLst>
              <a:ext uri="{FF2B5EF4-FFF2-40B4-BE49-F238E27FC236}">
                <a16:creationId xmlns:a16="http://schemas.microsoft.com/office/drawing/2014/main" id="{9397ECB9-5758-A191-81B3-8B261CEE7BC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5235" y="28252584"/>
            <a:ext cx="4858066" cy="2991629"/>
          </a:xfrm>
          <a:prstGeom prst="rect">
            <a:avLst/>
          </a:prstGeom>
        </p:spPr>
      </p:pic>
      <p:sp>
        <p:nvSpPr>
          <p:cNvPr id="71" name="תיבת טקסט 70">
            <a:extLst>
              <a:ext uri="{FF2B5EF4-FFF2-40B4-BE49-F238E27FC236}">
                <a16:creationId xmlns:a16="http://schemas.microsoft.com/office/drawing/2014/main" id="{C20B6973-05F4-9406-F056-DA419740DA1D}"/>
              </a:ext>
            </a:extLst>
          </p:cNvPr>
          <p:cNvSpPr txBox="1"/>
          <p:nvPr/>
        </p:nvSpPr>
        <p:spPr>
          <a:xfrm>
            <a:off x="477896" y="25444868"/>
            <a:ext cx="4858066" cy="2841983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72" name="תיבת טקסט 71">
            <a:extLst>
              <a:ext uri="{FF2B5EF4-FFF2-40B4-BE49-F238E27FC236}">
                <a16:creationId xmlns:a16="http://schemas.microsoft.com/office/drawing/2014/main" id="{5D004286-7929-B811-B745-28ABE95BEB56}"/>
              </a:ext>
            </a:extLst>
          </p:cNvPr>
          <p:cNvSpPr txBox="1"/>
          <p:nvPr/>
        </p:nvSpPr>
        <p:spPr>
          <a:xfrm>
            <a:off x="5354627" y="25413738"/>
            <a:ext cx="4719782" cy="2937643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73" name="תיבת טקסט 72">
            <a:extLst>
              <a:ext uri="{FF2B5EF4-FFF2-40B4-BE49-F238E27FC236}">
                <a16:creationId xmlns:a16="http://schemas.microsoft.com/office/drawing/2014/main" id="{A77B09CA-3F6D-E66B-FFE4-32751CFB3740}"/>
              </a:ext>
            </a:extLst>
          </p:cNvPr>
          <p:cNvSpPr txBox="1"/>
          <p:nvPr/>
        </p:nvSpPr>
        <p:spPr>
          <a:xfrm>
            <a:off x="478614" y="28265700"/>
            <a:ext cx="4858066" cy="299162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6014" dirty="0"/>
          </a:p>
        </p:txBody>
      </p:sp>
      <p:sp>
        <p:nvSpPr>
          <p:cNvPr id="75" name="חץ: שמאלה-ימינה 74">
            <a:extLst>
              <a:ext uri="{FF2B5EF4-FFF2-40B4-BE49-F238E27FC236}">
                <a16:creationId xmlns:a16="http://schemas.microsoft.com/office/drawing/2014/main" id="{22F7B87B-B4E4-3273-3223-2BB5CDB7A96C}"/>
              </a:ext>
            </a:extLst>
          </p:cNvPr>
          <p:cNvSpPr/>
          <p:nvPr/>
        </p:nvSpPr>
        <p:spPr>
          <a:xfrm>
            <a:off x="10460578" y="26155010"/>
            <a:ext cx="1231956" cy="48504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76" name="תיבת טקסט 75">
            <a:extLst>
              <a:ext uri="{FF2B5EF4-FFF2-40B4-BE49-F238E27FC236}">
                <a16:creationId xmlns:a16="http://schemas.microsoft.com/office/drawing/2014/main" id="{8D7251EF-81EF-0993-0FE6-1580117FB3D8}"/>
              </a:ext>
            </a:extLst>
          </p:cNvPr>
          <p:cNvSpPr txBox="1"/>
          <p:nvPr/>
        </p:nvSpPr>
        <p:spPr>
          <a:xfrm>
            <a:off x="1558376" y="21505064"/>
            <a:ext cx="3155728" cy="6254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3464" dirty="0">
                <a:solidFill>
                  <a:schemeClr val="accent1"/>
                </a:solidFill>
              </a:rPr>
              <a:t>(1)</a:t>
            </a:r>
            <a:r>
              <a:rPr lang="en-US" sz="2598" dirty="0">
                <a:solidFill>
                  <a:schemeClr val="accent1"/>
                </a:solidFill>
              </a:rPr>
              <a:t>-Array example:</a:t>
            </a:r>
          </a:p>
        </p:txBody>
      </p:sp>
      <p:sp>
        <p:nvSpPr>
          <p:cNvPr id="78" name="תיבת טקסט 77">
            <a:extLst>
              <a:ext uri="{FF2B5EF4-FFF2-40B4-BE49-F238E27FC236}">
                <a16:creationId xmlns:a16="http://schemas.microsoft.com/office/drawing/2014/main" id="{DBAD0773-92B1-AF77-87E2-FBCFC1ECB7CB}"/>
              </a:ext>
            </a:extLst>
          </p:cNvPr>
          <p:cNvSpPr txBox="1"/>
          <p:nvPr/>
        </p:nvSpPr>
        <p:spPr>
          <a:xfrm>
            <a:off x="518150" y="24704024"/>
            <a:ext cx="5934478" cy="6254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3464" dirty="0">
                <a:solidFill>
                  <a:schemeClr val="accent1"/>
                </a:solidFill>
              </a:rPr>
              <a:t>(4)</a:t>
            </a:r>
            <a:r>
              <a:rPr lang="en-US" sz="2021" dirty="0">
                <a:solidFill>
                  <a:schemeClr val="accent1"/>
                </a:solidFill>
              </a:rPr>
              <a:t>-100K Array(2^3 </a:t>
            </a:r>
            <a:r>
              <a:rPr lang="en-US" sz="2021" dirty="0">
                <a:solidFill>
                  <a:schemeClr val="accent1"/>
                </a:solidFill>
                <a:latin typeface="Assistant" pitchFamily="2" charset="-79"/>
                <a:cs typeface="Assistant" pitchFamily="2" charset="-79"/>
              </a:rPr>
              <a:t>variables)</a:t>
            </a:r>
            <a:r>
              <a:rPr lang="en-US" sz="2021" dirty="0">
                <a:solidFill>
                  <a:schemeClr val="accent1"/>
                </a:solidFill>
              </a:rPr>
              <a:t> bit size  diagrams</a:t>
            </a:r>
          </a:p>
        </p:txBody>
      </p:sp>
      <p:sp>
        <p:nvSpPr>
          <p:cNvPr id="79" name="מלבן 78">
            <a:extLst>
              <a:ext uri="{FF2B5EF4-FFF2-40B4-BE49-F238E27FC236}">
                <a16:creationId xmlns:a16="http://schemas.microsoft.com/office/drawing/2014/main" id="{9BF92487-7D17-8541-6650-75DDF018007C}"/>
              </a:ext>
            </a:extLst>
          </p:cNvPr>
          <p:cNvSpPr/>
          <p:nvPr/>
        </p:nvSpPr>
        <p:spPr>
          <a:xfrm>
            <a:off x="5821980" y="29823042"/>
            <a:ext cx="368559" cy="378488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80" name="מלבן 79">
            <a:extLst>
              <a:ext uri="{FF2B5EF4-FFF2-40B4-BE49-F238E27FC236}">
                <a16:creationId xmlns:a16="http://schemas.microsoft.com/office/drawing/2014/main" id="{E094B73C-97AD-2FDB-28EE-88A58914A178}"/>
              </a:ext>
            </a:extLst>
          </p:cNvPr>
          <p:cNvSpPr/>
          <p:nvPr/>
        </p:nvSpPr>
        <p:spPr>
          <a:xfrm>
            <a:off x="5821980" y="30373769"/>
            <a:ext cx="368559" cy="378488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81" name="מלבן 80">
            <a:extLst>
              <a:ext uri="{FF2B5EF4-FFF2-40B4-BE49-F238E27FC236}">
                <a16:creationId xmlns:a16="http://schemas.microsoft.com/office/drawing/2014/main" id="{00008970-B621-B614-3C8E-F61F3E151A30}"/>
              </a:ext>
            </a:extLst>
          </p:cNvPr>
          <p:cNvSpPr/>
          <p:nvPr/>
        </p:nvSpPr>
        <p:spPr>
          <a:xfrm>
            <a:off x="5833933" y="30907240"/>
            <a:ext cx="368559" cy="350088"/>
          </a:xfrm>
          <a:prstGeom prst="rect">
            <a:avLst/>
          </a:prstGeom>
          <a:solidFill>
            <a:srgbClr val="38984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14"/>
          </a:p>
        </p:txBody>
      </p:sp>
      <p:sp>
        <p:nvSpPr>
          <p:cNvPr id="82" name="תיבת טקסט 81">
            <a:extLst>
              <a:ext uri="{FF2B5EF4-FFF2-40B4-BE49-F238E27FC236}">
                <a16:creationId xmlns:a16="http://schemas.microsoft.com/office/drawing/2014/main" id="{D547A08D-4467-491A-70CB-E1D85B0CF99A}"/>
              </a:ext>
            </a:extLst>
          </p:cNvPr>
          <p:cNvSpPr txBox="1"/>
          <p:nvPr/>
        </p:nvSpPr>
        <p:spPr>
          <a:xfrm>
            <a:off x="6228863" y="30386075"/>
            <a:ext cx="1224831" cy="314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44" dirty="0"/>
              <a:t> </a:t>
            </a:r>
            <a:r>
              <a:rPr lang="en-US" sz="1155" dirty="0"/>
              <a:t>- Equals</a:t>
            </a:r>
          </a:p>
        </p:txBody>
      </p:sp>
      <p:sp>
        <p:nvSpPr>
          <p:cNvPr id="83" name="תיבת טקסט 82">
            <a:extLst>
              <a:ext uri="{FF2B5EF4-FFF2-40B4-BE49-F238E27FC236}">
                <a16:creationId xmlns:a16="http://schemas.microsoft.com/office/drawing/2014/main" id="{8182F867-0348-65F4-843E-A23D6A2D2AC5}"/>
              </a:ext>
            </a:extLst>
          </p:cNvPr>
          <p:cNvSpPr txBox="1"/>
          <p:nvPr/>
        </p:nvSpPr>
        <p:spPr>
          <a:xfrm>
            <a:off x="6202492" y="29864037"/>
            <a:ext cx="1558628" cy="314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44" dirty="0"/>
              <a:t> </a:t>
            </a:r>
            <a:r>
              <a:rPr lang="en-US" sz="1155" dirty="0"/>
              <a:t>- </a:t>
            </a:r>
            <a:r>
              <a:rPr lang="en-US" sz="1155" dirty="0" err="1"/>
              <a:t>Haar</a:t>
            </a:r>
            <a:r>
              <a:rPr lang="en-US" sz="1155" dirty="0"/>
              <a:t> Integer</a:t>
            </a:r>
          </a:p>
        </p:txBody>
      </p:sp>
      <p:sp>
        <p:nvSpPr>
          <p:cNvPr id="84" name="תיבת טקסט 83">
            <a:extLst>
              <a:ext uri="{FF2B5EF4-FFF2-40B4-BE49-F238E27FC236}">
                <a16:creationId xmlns:a16="http://schemas.microsoft.com/office/drawing/2014/main" id="{DC5301D3-B7F2-2A2A-5AAA-62B01F8CAEA4}"/>
              </a:ext>
            </a:extLst>
          </p:cNvPr>
          <p:cNvSpPr txBox="1"/>
          <p:nvPr/>
        </p:nvSpPr>
        <p:spPr>
          <a:xfrm>
            <a:off x="6227641" y="30871500"/>
            <a:ext cx="1931275" cy="492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44" dirty="0"/>
              <a:t> </a:t>
            </a:r>
            <a:r>
              <a:rPr lang="en-US" sz="1155" dirty="0"/>
              <a:t>- </a:t>
            </a:r>
            <a:r>
              <a:rPr lang="en-US" sz="1155" dirty="0" err="1"/>
              <a:t>Haar</a:t>
            </a:r>
            <a:r>
              <a:rPr lang="en-US" sz="1155" dirty="0"/>
              <a:t> New</a:t>
            </a:r>
            <a:br>
              <a:rPr lang="en-US" sz="1155" dirty="0"/>
            </a:br>
            <a:r>
              <a:rPr lang="en-US" sz="1155" dirty="0"/>
              <a:t> Transform</a:t>
            </a:r>
          </a:p>
        </p:txBody>
      </p: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FC86673C-3D4D-8623-59AF-6CF2B403653D}"/>
              </a:ext>
            </a:extLst>
          </p:cNvPr>
          <p:cNvSpPr txBox="1"/>
          <p:nvPr/>
        </p:nvSpPr>
        <p:spPr>
          <a:xfrm>
            <a:off x="11457090" y="21066774"/>
            <a:ext cx="3502383" cy="6254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3464" dirty="0">
                <a:solidFill>
                  <a:schemeClr val="accent1"/>
                </a:solidFill>
              </a:rPr>
              <a:t>(2)</a:t>
            </a:r>
            <a:r>
              <a:rPr lang="en-US" sz="2598" dirty="0">
                <a:solidFill>
                  <a:schemeClr val="accent1"/>
                </a:solidFill>
              </a:rPr>
              <a:t>-</a:t>
            </a:r>
            <a:r>
              <a:rPr lang="en-US" sz="2598" dirty="0" err="1">
                <a:solidFill>
                  <a:schemeClr val="accent1"/>
                </a:solidFill>
              </a:rPr>
              <a:t>Haar</a:t>
            </a:r>
            <a:r>
              <a:rPr lang="en-US" sz="2598" dirty="0">
                <a:solidFill>
                  <a:schemeClr val="accent1"/>
                </a:solidFill>
              </a:rPr>
              <a:t> algorithms :</a:t>
            </a:r>
          </a:p>
        </p:txBody>
      </p:sp>
      <p:sp>
        <p:nvSpPr>
          <p:cNvPr id="54" name="תיבת טקסט 53">
            <a:extLst>
              <a:ext uri="{FF2B5EF4-FFF2-40B4-BE49-F238E27FC236}">
                <a16:creationId xmlns:a16="http://schemas.microsoft.com/office/drawing/2014/main" id="{C395D84B-7DC6-60C3-650A-1B4CC43A09CE}"/>
              </a:ext>
            </a:extLst>
          </p:cNvPr>
          <p:cNvSpPr txBox="1"/>
          <p:nvPr/>
        </p:nvSpPr>
        <p:spPr>
          <a:xfrm>
            <a:off x="12901127" y="25194348"/>
            <a:ext cx="3166413" cy="6254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3464" dirty="0">
                <a:solidFill>
                  <a:schemeClr val="accent1"/>
                </a:solidFill>
              </a:rPr>
              <a:t>(3)</a:t>
            </a:r>
            <a:r>
              <a:rPr lang="en-US" sz="2021" dirty="0">
                <a:solidFill>
                  <a:schemeClr val="accent1"/>
                </a:solidFill>
              </a:rPr>
              <a:t>-bit size result table</a:t>
            </a:r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B02828D1-38D0-0A55-B2D0-F69660C70F51}"/>
              </a:ext>
            </a:extLst>
          </p:cNvPr>
          <p:cNvSpPr txBox="1"/>
          <p:nvPr/>
        </p:nvSpPr>
        <p:spPr>
          <a:xfrm>
            <a:off x="5558901" y="19631239"/>
            <a:ext cx="11796378" cy="11587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310" b="1" dirty="0"/>
              <a:t>(1) </a:t>
            </a:r>
            <a:r>
              <a:rPr lang="en-US" sz="2310" dirty="0"/>
              <a:t>Is a example of an array </a:t>
            </a:r>
            <a:r>
              <a:rPr lang="en-US" sz="2310" b="1" dirty="0"/>
              <a:t>,(2) </a:t>
            </a:r>
            <a:r>
              <a:rPr lang="en-US" sz="2310" dirty="0"/>
              <a:t>is the changes that each </a:t>
            </a:r>
            <a:r>
              <a:rPr lang="en-US" sz="2310" dirty="0" err="1"/>
              <a:t>haar</a:t>
            </a:r>
            <a:r>
              <a:rPr lang="en-US" sz="2310" dirty="0"/>
              <a:t> algorithm performs on the array variables,</a:t>
            </a:r>
            <a:r>
              <a:rPr lang="en-US" sz="2310" b="1" dirty="0"/>
              <a:t> (3) </a:t>
            </a:r>
            <a:r>
              <a:rPr lang="en-US" sz="2310" dirty="0"/>
              <a:t>a table contain the size of the compressed massage for each algorithm ,</a:t>
            </a:r>
            <a:r>
              <a:rPr lang="en-US" sz="2310" b="1" dirty="0"/>
              <a:t>(4) </a:t>
            </a:r>
            <a:r>
              <a:rPr lang="en-US" sz="2310" dirty="0"/>
              <a:t>contain the result of the better </a:t>
            </a:r>
            <a:r>
              <a:rPr lang="en-US" sz="2310" dirty="0" err="1"/>
              <a:t>Haar</a:t>
            </a:r>
            <a:r>
              <a:rPr lang="en-US" sz="2310" dirty="0"/>
              <a:t> algorithm for each compression in a 100k random arrays</a:t>
            </a:r>
          </a:p>
        </p:txBody>
      </p:sp>
      <p:sp>
        <p:nvSpPr>
          <p:cNvPr id="24" name="תיבת טקסט 23">
            <a:extLst>
              <a:ext uri="{FF2B5EF4-FFF2-40B4-BE49-F238E27FC236}">
                <a16:creationId xmlns:a16="http://schemas.microsoft.com/office/drawing/2014/main" id="{30BEB8BC-B0BF-7152-405B-5369413D0415}"/>
              </a:ext>
            </a:extLst>
          </p:cNvPr>
          <p:cNvSpPr txBox="1"/>
          <p:nvPr/>
        </p:nvSpPr>
        <p:spPr>
          <a:xfrm>
            <a:off x="972444" y="2522270"/>
            <a:ext cx="1700869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47220"/>
            <a:r>
              <a:rPr lang="en-US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Compression – Comparing </a:t>
            </a:r>
            <a:r>
              <a:rPr lang="en-US" sz="5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Haar’s</a:t>
            </a:r>
            <a:r>
              <a:rPr lang="en-US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Algorithms</a:t>
            </a:r>
            <a:br>
              <a:rPr lang="en-US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2747220"/>
            <a:r>
              <a:rPr lang="en-US" sz="2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Presenters: Liel Berniker, Noy </a:t>
            </a:r>
            <a:r>
              <a:rPr lang="en-US" sz="2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Osi</a:t>
            </a:r>
            <a:r>
              <a:rPr lang="en-US" sz="2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Dvir</a:t>
            </a:r>
            <a:r>
              <a:rPr lang="en-US" sz="2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Segal</a:t>
            </a:r>
            <a:br>
              <a:rPr lang="en-US" sz="2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Instructor: Prof. Dana Shapira</a:t>
            </a:r>
            <a:br>
              <a:rPr lang="en-US" sz="1800" b="1" dirty="0">
                <a:solidFill>
                  <a:schemeClr val="tx1"/>
                </a:solidFill>
                <a:latin typeface="Calibri"/>
                <a:cs typeface="Arial"/>
              </a:rPr>
            </a:br>
            <a:endParaRPr lang="he-IL" sz="1800" b="1" dirty="0">
              <a:solidFill>
                <a:schemeClr val="tx1"/>
              </a:solidFill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1684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ערכת נושא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ערכת נושא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ערכת נושא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2814</TotalTime>
  <Words>362</Words>
  <Application>Microsoft Office PowerPoint</Application>
  <PresentationFormat>מותאם אישית</PresentationFormat>
  <Paragraphs>55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7" baseType="lpstr">
      <vt:lpstr>Arial</vt:lpstr>
      <vt:lpstr>Assistant</vt:lpstr>
      <vt:lpstr>Calibri</vt:lpstr>
      <vt:lpstr>Calibri Light</vt:lpstr>
      <vt:lpstr>SFSL1095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yogi zor</dc:creator>
  <cp:lastModifiedBy>lio berni</cp:lastModifiedBy>
  <cp:revision>51</cp:revision>
  <dcterms:created xsi:type="dcterms:W3CDTF">2020-05-21T09:41:20Z</dcterms:created>
  <dcterms:modified xsi:type="dcterms:W3CDTF">2022-05-28T17:28:46Z</dcterms:modified>
</cp:coreProperties>
</file>