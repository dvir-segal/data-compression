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7" r:id="rId2"/>
  </p:sldIdLst>
  <p:sldSz cx="6858000" cy="10080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6" autoAdjust="0"/>
    <p:restoredTop sz="94660"/>
  </p:normalViewPr>
  <p:slideViewPr>
    <p:cSldViewPr snapToGrid="0">
      <p:cViewPr>
        <p:scale>
          <a:sx n="136" d="100"/>
          <a:sy n="136" d="100"/>
        </p:scale>
        <p:origin x="-72" y="13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49770"/>
            <a:ext cx="5829300" cy="3509551"/>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94662"/>
            <a:ext cx="5143500" cy="2433817"/>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3EE89F4-C31D-45E3-BFAA-D8E8790DFB86}" type="datetimeFigureOut">
              <a:rPr lang="en-US" smtClean="0"/>
              <a:t>5/20/2022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131871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EE89F4-C31D-45E3-BFAA-D8E8790DFB86}" type="datetimeFigureOut">
              <a:rPr lang="en-US" smtClean="0"/>
              <a:t>5/20/2022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35905038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513159"/>
            <a:ext cx="5915025" cy="419325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746088"/>
            <a:ext cx="5915025" cy="2205136"/>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3EE89F4-C31D-45E3-BFAA-D8E8790DFB86}" type="datetimeFigureOut">
              <a:rPr lang="en-US" smtClean="0"/>
              <a:t>5/20/2022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7650259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83500"/>
            <a:ext cx="2914650" cy="6396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83500"/>
            <a:ext cx="2914650" cy="6396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3EE89F4-C31D-45E3-BFAA-D8E8790DFB86}" type="datetimeFigureOut">
              <a:rPr lang="en-US" smtClean="0"/>
              <a:t>5/20/2022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2333386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36702"/>
            <a:ext cx="5915025" cy="1948455"/>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71154"/>
            <a:ext cx="2901255" cy="121107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82228"/>
            <a:ext cx="2901255" cy="54160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71154"/>
            <a:ext cx="2915543" cy="121107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82228"/>
            <a:ext cx="2915543" cy="54160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3EE89F4-C31D-45E3-BFAA-D8E8790DFB86}" type="datetimeFigureOut">
              <a:rPr lang="en-US" smtClean="0"/>
              <a:t>5/20/2022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15356554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3EE89F4-C31D-45E3-BFAA-D8E8790DFB86}" type="datetimeFigureOut">
              <a:rPr lang="en-US" smtClean="0"/>
              <a:t>5/20/2022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6500886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3EE89F4-C31D-45E3-BFAA-D8E8790DFB86}" type="datetimeFigureOut">
              <a:rPr lang="en-US" smtClean="0"/>
              <a:t>5/20/2022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21844157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72042"/>
            <a:ext cx="2211884" cy="2352146"/>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51426"/>
            <a:ext cx="3471863" cy="716377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3024188"/>
            <a:ext cx="2211884" cy="560268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73EE89F4-C31D-45E3-BFAA-D8E8790DFB86}" type="datetimeFigureOut">
              <a:rPr lang="en-US" smtClean="0"/>
              <a:t>5/20/2022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1142121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72042"/>
            <a:ext cx="2211884" cy="235214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51426"/>
            <a:ext cx="3471863" cy="716377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3024188"/>
            <a:ext cx="2211884" cy="560268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73EE89F4-C31D-45E3-BFAA-D8E8790DFB86}" type="datetimeFigureOut">
              <a:rPr lang="en-US" smtClean="0"/>
              <a:t>5/20/2022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11382691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EE89F4-C31D-45E3-BFAA-D8E8790DFB86}" type="datetimeFigureOut">
              <a:rPr lang="en-US" smtClean="0"/>
              <a:t>5/20/2022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2402523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36700"/>
            <a:ext cx="1478756" cy="854286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36700"/>
            <a:ext cx="4350544" cy="85428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EE89F4-C31D-45E3-BFAA-D8E8790DFB86}" type="datetimeFigureOut">
              <a:rPr lang="en-US" smtClean="0"/>
              <a:t>5/20/2022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AEA510-ADDF-4DBA-8516-F528B7CFC467}" type="slidenum">
              <a:rPr lang="en-US" smtClean="0"/>
              <a:t>‹#›</a:t>
            </a:fld>
            <a:endParaRPr lang="en-US"/>
          </a:p>
        </p:txBody>
      </p:sp>
    </p:spTree>
    <p:extLst>
      <p:ext uri="{BB962C8B-B14F-4D97-AF65-F5344CB8AC3E}">
        <p14:creationId xmlns:p14="http://schemas.microsoft.com/office/powerpoint/2010/main" val="157824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36702"/>
            <a:ext cx="5915025" cy="194845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83500"/>
            <a:ext cx="5915025" cy="639606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343248"/>
            <a:ext cx="1543050" cy="536700"/>
          </a:xfrm>
          <a:prstGeom prst="rect">
            <a:avLst/>
          </a:prstGeom>
        </p:spPr>
        <p:txBody>
          <a:bodyPr vert="horz" lIns="91440" tIns="45720" rIns="91440" bIns="45720" rtlCol="0" anchor="ctr"/>
          <a:lstStyle>
            <a:lvl1pPr algn="l">
              <a:defRPr sz="900">
                <a:solidFill>
                  <a:schemeClr val="tx1">
                    <a:tint val="75000"/>
                  </a:schemeClr>
                </a:solidFill>
              </a:defRPr>
            </a:lvl1pPr>
          </a:lstStyle>
          <a:p>
            <a:fld id="{73EE89F4-C31D-45E3-BFAA-D8E8790DFB86}" type="datetimeFigureOut">
              <a:rPr lang="en-US" smtClean="0"/>
              <a:t>5/20/2022</a:t>
            </a:fld>
            <a:endParaRPr lang="en-US"/>
          </a:p>
        </p:txBody>
      </p:sp>
      <p:sp>
        <p:nvSpPr>
          <p:cNvPr id="5" name="Footer Placeholder 4"/>
          <p:cNvSpPr>
            <a:spLocks noGrp="1"/>
          </p:cNvSpPr>
          <p:nvPr>
            <p:ph type="ftr" sz="quarter" idx="3"/>
          </p:nvPr>
        </p:nvSpPr>
        <p:spPr>
          <a:xfrm>
            <a:off x="2271713" y="9343248"/>
            <a:ext cx="2314575" cy="536700"/>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43463" y="9343248"/>
            <a:ext cx="1543050" cy="536700"/>
          </a:xfrm>
          <a:prstGeom prst="rect">
            <a:avLst/>
          </a:prstGeom>
        </p:spPr>
        <p:txBody>
          <a:bodyPr vert="horz" lIns="91440" tIns="45720" rIns="91440" bIns="45720" rtlCol="0" anchor="ctr"/>
          <a:lstStyle>
            <a:lvl1pPr algn="r">
              <a:defRPr sz="900">
                <a:solidFill>
                  <a:schemeClr val="tx1">
                    <a:tint val="75000"/>
                  </a:schemeClr>
                </a:solidFill>
              </a:defRPr>
            </a:lvl1pPr>
          </a:lstStyle>
          <a:p>
            <a:fld id="{2FAEA510-ADDF-4DBA-8516-F528B7CFC467}" type="slidenum">
              <a:rPr lang="en-US" smtClean="0"/>
              <a:t>‹#›</a:t>
            </a:fld>
            <a:endParaRPr lang="en-US"/>
          </a:p>
        </p:txBody>
      </p:sp>
    </p:spTree>
    <p:extLst>
      <p:ext uri="{BB962C8B-B14F-4D97-AF65-F5344CB8AC3E}">
        <p14:creationId xmlns:p14="http://schemas.microsoft.com/office/powerpoint/2010/main" val="26197370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כותרת משנה 2"/>
          <p:cNvSpPr>
            <a:spLocks noGrp="1"/>
          </p:cNvSpPr>
          <p:nvPr>
            <p:ph type="subTitle" idx="1"/>
          </p:nvPr>
        </p:nvSpPr>
        <p:spPr>
          <a:xfrm>
            <a:off x="1" y="0"/>
            <a:ext cx="6857999" cy="1283749"/>
          </a:xfrm>
          <a:ln/>
        </p:spPr>
        <p:style>
          <a:lnRef idx="2">
            <a:schemeClr val="accent4"/>
          </a:lnRef>
          <a:fillRef idx="1">
            <a:schemeClr val="lt1"/>
          </a:fillRef>
          <a:effectRef idx="0">
            <a:schemeClr val="accent4"/>
          </a:effectRef>
          <a:fontRef idx="minor">
            <a:schemeClr val="dk1"/>
          </a:fontRef>
        </p:style>
        <p:txBody>
          <a:bodyPr>
            <a:normAutofit fontScale="92500" lnSpcReduction="10000"/>
          </a:bodyPr>
          <a:lstStyle/>
          <a:p>
            <a:pPr defTabSz="951583"/>
            <a:br>
              <a:rPr lang="en-US" sz="1307" b="1" dirty="0">
                <a:solidFill>
                  <a:srgbClr val="FF0000"/>
                </a:solidFill>
                <a:latin typeface="Calibri"/>
                <a:cs typeface="Arial"/>
              </a:rPr>
            </a:br>
            <a:br>
              <a:rPr lang="en-US" sz="1307" b="1" dirty="0">
                <a:solidFill>
                  <a:schemeClr val="tx1"/>
                </a:solidFill>
                <a:latin typeface="Calibri"/>
                <a:cs typeface="Arial"/>
              </a:rPr>
            </a:br>
            <a:r>
              <a:rPr lang="en-US" sz="1307" b="1" dirty="0">
                <a:solidFill>
                  <a:schemeClr val="tx1"/>
                </a:solidFill>
                <a:latin typeface="Calibri"/>
                <a:cs typeface="Arial"/>
              </a:rPr>
              <a:t>       </a:t>
            </a:r>
            <a:r>
              <a:rPr lang="en-US" b="1" dirty="0">
                <a:solidFill>
                  <a:schemeClr val="tx1"/>
                </a:solidFill>
                <a:latin typeface="Calibri"/>
                <a:cs typeface="Arial"/>
              </a:rPr>
              <a:t>Data Compression – Comparing </a:t>
            </a:r>
            <a:r>
              <a:rPr lang="en-US" b="1" dirty="0" err="1">
                <a:solidFill>
                  <a:schemeClr val="tx1"/>
                </a:solidFill>
                <a:latin typeface="Calibri"/>
                <a:cs typeface="Arial"/>
              </a:rPr>
              <a:t>Haar’s</a:t>
            </a:r>
            <a:r>
              <a:rPr lang="en-US" b="1" dirty="0">
                <a:solidFill>
                  <a:schemeClr val="tx1"/>
                </a:solidFill>
                <a:latin typeface="Calibri"/>
                <a:cs typeface="Arial"/>
              </a:rPr>
              <a:t> Algorithms</a:t>
            </a:r>
            <a:br>
              <a:rPr lang="en-US" sz="1307" b="1" dirty="0">
                <a:solidFill>
                  <a:schemeClr val="tx1"/>
                </a:solidFill>
                <a:latin typeface="Calibri"/>
                <a:cs typeface="Arial"/>
              </a:rPr>
            </a:br>
            <a:endParaRPr lang="en-US" sz="1307" b="1" dirty="0">
              <a:solidFill>
                <a:schemeClr val="tx1"/>
              </a:solidFill>
              <a:latin typeface="Calibri"/>
              <a:cs typeface="Arial"/>
            </a:endParaRPr>
          </a:p>
          <a:p>
            <a:pPr defTabSz="951583"/>
            <a:r>
              <a:rPr lang="en-US" sz="1307" b="1" dirty="0">
                <a:solidFill>
                  <a:schemeClr val="tx1"/>
                </a:solidFill>
                <a:latin typeface="Calibri"/>
                <a:cs typeface="Arial"/>
              </a:rPr>
              <a:t>Presenters: </a:t>
            </a:r>
            <a:r>
              <a:rPr lang="en-US" sz="1307" b="1" dirty="0" err="1">
                <a:solidFill>
                  <a:schemeClr val="tx1"/>
                </a:solidFill>
                <a:latin typeface="Calibri"/>
                <a:cs typeface="Arial"/>
              </a:rPr>
              <a:t>Liel</a:t>
            </a:r>
            <a:r>
              <a:rPr lang="en-US" sz="1307" b="1" dirty="0">
                <a:solidFill>
                  <a:schemeClr val="tx1"/>
                </a:solidFill>
                <a:latin typeface="Calibri"/>
                <a:cs typeface="Arial"/>
              </a:rPr>
              <a:t> </a:t>
            </a:r>
            <a:r>
              <a:rPr lang="en-US" sz="1307" b="1" dirty="0" err="1">
                <a:solidFill>
                  <a:schemeClr val="tx1"/>
                </a:solidFill>
                <a:latin typeface="Calibri"/>
                <a:cs typeface="Arial"/>
              </a:rPr>
              <a:t>Berniker</a:t>
            </a:r>
            <a:r>
              <a:rPr lang="en-US" sz="1307" b="1" dirty="0">
                <a:solidFill>
                  <a:schemeClr val="tx1"/>
                </a:solidFill>
                <a:latin typeface="Calibri"/>
                <a:cs typeface="Arial"/>
              </a:rPr>
              <a:t>, Noy </a:t>
            </a:r>
            <a:r>
              <a:rPr lang="en-US" sz="1307" b="1" dirty="0" err="1">
                <a:solidFill>
                  <a:schemeClr val="tx1"/>
                </a:solidFill>
                <a:latin typeface="Calibri"/>
                <a:cs typeface="Arial"/>
              </a:rPr>
              <a:t>Osi</a:t>
            </a:r>
            <a:r>
              <a:rPr lang="en-US" sz="1307" b="1" dirty="0">
                <a:solidFill>
                  <a:schemeClr val="tx1"/>
                </a:solidFill>
                <a:latin typeface="Calibri"/>
                <a:cs typeface="Arial"/>
              </a:rPr>
              <a:t>, Dvir Segal</a:t>
            </a:r>
            <a:br>
              <a:rPr lang="en-US" sz="1307" b="1" dirty="0">
                <a:solidFill>
                  <a:schemeClr val="tx1"/>
                </a:solidFill>
                <a:latin typeface="Calibri"/>
                <a:cs typeface="Arial"/>
              </a:rPr>
            </a:br>
            <a:r>
              <a:rPr lang="en-US" sz="1307" b="1" dirty="0">
                <a:solidFill>
                  <a:schemeClr val="tx1"/>
                </a:solidFill>
                <a:latin typeface="Calibri"/>
                <a:cs typeface="Arial"/>
              </a:rPr>
              <a:t>Instructor: Prof. Dana Shapira</a:t>
            </a:r>
            <a:br>
              <a:rPr lang="en-US" sz="1307" b="1" dirty="0">
                <a:solidFill>
                  <a:srgbClr val="FF0000"/>
                </a:solidFill>
                <a:latin typeface="Calibri"/>
                <a:cs typeface="Arial"/>
              </a:rPr>
            </a:br>
            <a:endParaRPr lang="he-IL" sz="1307" b="1" dirty="0">
              <a:solidFill>
                <a:srgbClr val="FF0000"/>
              </a:solidFill>
              <a:latin typeface="Calibri"/>
              <a:cs typeface="Arial"/>
            </a:endParaRPr>
          </a:p>
        </p:txBody>
      </p:sp>
      <p:sp>
        <p:nvSpPr>
          <p:cNvPr id="8" name="TextBox 7"/>
          <p:cNvSpPr txBox="1"/>
          <p:nvPr/>
        </p:nvSpPr>
        <p:spPr>
          <a:xfrm>
            <a:off x="-244880" y="5002000"/>
            <a:ext cx="184730" cy="173766"/>
          </a:xfrm>
          <a:prstGeom prst="rect">
            <a:avLst/>
          </a:prstGeom>
          <a:noFill/>
        </p:spPr>
        <p:txBody>
          <a:bodyPr wrap="none" rtlCol="1">
            <a:spAutoFit/>
          </a:bodyPr>
          <a:lstStyle/>
          <a:p>
            <a:pPr algn="r" rtl="1"/>
            <a:endParaRPr lang="he-IL" sz="490" dirty="0"/>
          </a:p>
        </p:txBody>
      </p:sp>
      <p:sp>
        <p:nvSpPr>
          <p:cNvPr id="12" name="Rounded Rectangle 6"/>
          <p:cNvSpPr/>
          <p:nvPr/>
        </p:nvSpPr>
        <p:spPr>
          <a:xfrm>
            <a:off x="3539366" y="1502750"/>
            <a:ext cx="3152036" cy="2349321"/>
          </a:xfrm>
          <a:prstGeom prst="roundRect">
            <a:avLst/>
          </a:prstGeom>
          <a:ln w="38100">
            <a:solidFill>
              <a:schemeClr val="accent1">
                <a:lumMod val="75000"/>
              </a:schemeClr>
            </a:solidFill>
          </a:ln>
        </p:spPr>
        <p:style>
          <a:lnRef idx="2">
            <a:schemeClr val="accent5"/>
          </a:lnRef>
          <a:fillRef idx="1">
            <a:schemeClr val="lt1"/>
          </a:fillRef>
          <a:effectRef idx="0">
            <a:schemeClr val="accent5"/>
          </a:effectRef>
          <a:fontRef idx="minor">
            <a:schemeClr val="dk1"/>
          </a:fontRef>
        </p:style>
        <p:txBody>
          <a:bodyPr rtlCol="1" anchor="t"/>
          <a:lstStyle/>
          <a:p>
            <a:pPr>
              <a:defRPr/>
            </a:pPr>
            <a:r>
              <a:rPr lang="en-US" sz="1400" dirty="0">
                <a:solidFill>
                  <a:prstClr val="black"/>
                </a:solidFill>
                <a:latin typeface="Arial" pitchFamily="34" charset="0"/>
                <a:ea typeface="Tahoma" pitchFamily="34" charset="0"/>
                <a:cs typeface="Arial" pitchFamily="34" charset="0"/>
              </a:rPr>
              <a:t>2. Introduction:</a:t>
            </a:r>
          </a:p>
          <a:p>
            <a:pPr>
              <a:defRPr/>
            </a:pPr>
            <a:endParaRPr lang="en-US" sz="1400" dirty="0">
              <a:solidFill>
                <a:prstClr val="black"/>
              </a:solidFill>
              <a:latin typeface="Arial" pitchFamily="34" charset="0"/>
              <a:ea typeface="Tahoma" pitchFamily="34" charset="0"/>
              <a:cs typeface="Arial" pitchFamily="34" charset="0"/>
            </a:endParaRPr>
          </a:p>
          <a:p>
            <a:pPr>
              <a:defRPr/>
            </a:pPr>
            <a:r>
              <a:rPr lang="en-US" sz="1400" dirty="0">
                <a:solidFill>
                  <a:prstClr val="black"/>
                </a:solidFill>
                <a:latin typeface="Arial" pitchFamily="34" charset="0"/>
                <a:ea typeface="Tahoma" pitchFamily="34" charset="0"/>
                <a:cs typeface="Arial" pitchFamily="34" charset="0"/>
              </a:rPr>
              <a:t>Our project subject, is comparing 2 central data compression algorithms:</a:t>
            </a:r>
          </a:p>
          <a:p>
            <a:pPr>
              <a:defRPr/>
            </a:pPr>
            <a:r>
              <a:rPr lang="en-US" sz="1400" dirty="0" err="1">
                <a:solidFill>
                  <a:prstClr val="black"/>
                </a:solidFill>
                <a:latin typeface="Arial" pitchFamily="34" charset="0"/>
                <a:ea typeface="Tahoma" pitchFamily="34" charset="0"/>
                <a:cs typeface="Arial" pitchFamily="34" charset="0"/>
              </a:rPr>
              <a:t>Haar</a:t>
            </a:r>
            <a:r>
              <a:rPr lang="en-US" sz="1400" dirty="0">
                <a:solidFill>
                  <a:prstClr val="black"/>
                </a:solidFill>
                <a:latin typeface="Arial" pitchFamily="34" charset="0"/>
                <a:ea typeface="Tahoma" pitchFamily="34" charset="0"/>
                <a:cs typeface="Arial" pitchFamily="34" charset="0"/>
              </a:rPr>
              <a:t> Integer and </a:t>
            </a:r>
            <a:r>
              <a:rPr lang="en-US" sz="1400" dirty="0" err="1">
                <a:solidFill>
                  <a:prstClr val="black"/>
                </a:solidFill>
                <a:latin typeface="Arial" pitchFamily="34" charset="0"/>
                <a:ea typeface="Tahoma" pitchFamily="34" charset="0"/>
                <a:cs typeface="Arial" pitchFamily="34" charset="0"/>
              </a:rPr>
              <a:t>Haar</a:t>
            </a:r>
            <a:r>
              <a:rPr lang="en-US" sz="1400" dirty="0">
                <a:solidFill>
                  <a:prstClr val="black"/>
                </a:solidFill>
                <a:latin typeface="Arial" pitchFamily="34" charset="0"/>
                <a:ea typeface="Tahoma" pitchFamily="34" charset="0"/>
                <a:cs typeface="Arial" pitchFamily="34" charset="0"/>
              </a:rPr>
              <a:t> New Transform.</a:t>
            </a:r>
          </a:p>
          <a:p>
            <a:pPr>
              <a:defRPr/>
            </a:pPr>
            <a:r>
              <a:rPr lang="en-US" sz="1400" dirty="0">
                <a:solidFill>
                  <a:prstClr val="black"/>
                </a:solidFill>
                <a:latin typeface="Arial" pitchFamily="34" charset="0"/>
                <a:ea typeface="Tahoma" pitchFamily="34" charset="0"/>
                <a:cs typeface="Arial" pitchFamily="34" charset="0"/>
              </a:rPr>
              <a:t>In discover of the optimal algorithms in different aspects.</a:t>
            </a:r>
            <a:endParaRPr lang="he-IL" sz="1400" dirty="0">
              <a:solidFill>
                <a:prstClr val="black"/>
              </a:solidFill>
              <a:latin typeface="Arial" pitchFamily="34" charset="0"/>
              <a:ea typeface="Tahoma" pitchFamily="34" charset="0"/>
              <a:cs typeface="Arial" pitchFamily="34" charset="0"/>
            </a:endParaRPr>
          </a:p>
        </p:txBody>
      </p:sp>
      <p:sp>
        <p:nvSpPr>
          <p:cNvPr id="17" name="Rounded Rectangle 6"/>
          <p:cNvSpPr/>
          <p:nvPr/>
        </p:nvSpPr>
        <p:spPr>
          <a:xfrm>
            <a:off x="166596" y="2841385"/>
            <a:ext cx="2944178" cy="2624578"/>
          </a:xfrm>
          <a:prstGeom prst="roundRect">
            <a:avLst/>
          </a:prstGeom>
          <a:ln w="38100"/>
        </p:spPr>
        <p:style>
          <a:lnRef idx="2">
            <a:schemeClr val="accent1"/>
          </a:lnRef>
          <a:fillRef idx="1">
            <a:schemeClr val="lt1"/>
          </a:fillRef>
          <a:effectRef idx="0">
            <a:schemeClr val="accent1"/>
          </a:effectRef>
          <a:fontRef idx="minor">
            <a:schemeClr val="dk1"/>
          </a:fontRef>
        </p:style>
        <p:txBody>
          <a:bodyPr rtlCol="1" anchor="t"/>
          <a:lstStyle/>
          <a:p>
            <a:pPr>
              <a:defRPr/>
            </a:pPr>
            <a:r>
              <a:rPr lang="he-IL" sz="1200" b="1" dirty="0">
                <a:latin typeface="Arial" pitchFamily="34" charset="0"/>
                <a:ea typeface="Tahoma" pitchFamily="34" charset="0"/>
                <a:cs typeface="Arial" pitchFamily="34" charset="0"/>
              </a:rPr>
              <a:t>3</a:t>
            </a:r>
            <a:r>
              <a:rPr lang="en-US" sz="1200" b="1" dirty="0">
                <a:latin typeface="Arial" pitchFamily="34" charset="0"/>
                <a:ea typeface="Tahoma" pitchFamily="34" charset="0"/>
                <a:cs typeface="Arial" pitchFamily="34" charset="0"/>
              </a:rPr>
              <a:t>. </a:t>
            </a:r>
            <a:r>
              <a:rPr lang="en-US" sz="1200" dirty="0"/>
              <a:t>Methods/algorithms/Alternatives or</a:t>
            </a:r>
            <a:br>
              <a:rPr lang="en-US" sz="1200" dirty="0"/>
            </a:br>
            <a:r>
              <a:rPr lang="en-US" sz="1200" dirty="0"/>
              <a:t>     Design Considerations:</a:t>
            </a:r>
          </a:p>
          <a:p>
            <a:pPr>
              <a:defRPr/>
            </a:pPr>
            <a:endParaRPr lang="en-US" sz="1200" dirty="0"/>
          </a:p>
          <a:p>
            <a:pPr>
              <a:defRPr/>
            </a:pPr>
            <a:r>
              <a:rPr lang="en-US" sz="1200" dirty="0"/>
              <a:t>The algorithms we chose are the algorithms we research. </a:t>
            </a:r>
          </a:p>
          <a:p>
            <a:pPr>
              <a:defRPr/>
            </a:pPr>
            <a:r>
              <a:rPr lang="en-US" sz="1200" dirty="0"/>
              <a:t>The method that we selected for our research is reviewing an article that deal with our subject (“New Compression Schemes for Natural Number Sequences” by Prof. Dana Shapira), and analyzed the algorithms that appear in this article</a:t>
            </a:r>
          </a:p>
          <a:p>
            <a:pPr>
              <a:defRPr/>
            </a:pPr>
            <a:endParaRPr lang="en-US" sz="1200" b="1" dirty="0">
              <a:latin typeface="Arial" pitchFamily="34" charset="0"/>
              <a:ea typeface="Tahoma" pitchFamily="34" charset="0"/>
              <a:cs typeface="Arial" pitchFamily="34" charset="0"/>
            </a:endParaRPr>
          </a:p>
          <a:p>
            <a:pPr>
              <a:defRPr/>
            </a:pPr>
            <a:endParaRPr lang="en-US" sz="1200" b="1" dirty="0">
              <a:latin typeface="Arial" pitchFamily="34" charset="0"/>
              <a:ea typeface="Tahoma" pitchFamily="34" charset="0"/>
              <a:cs typeface="Arial" pitchFamily="34" charset="0"/>
            </a:endParaRPr>
          </a:p>
          <a:p>
            <a:pPr>
              <a:defRPr/>
            </a:pPr>
            <a:r>
              <a:rPr lang="en-US" sz="1200" b="1" dirty="0">
                <a:latin typeface="Arial" pitchFamily="34" charset="0"/>
                <a:ea typeface="Tahoma" pitchFamily="34" charset="0"/>
                <a:cs typeface="Arial" pitchFamily="34" charset="0"/>
              </a:rPr>
              <a:t>   </a:t>
            </a:r>
            <a:br>
              <a:rPr lang="en-US" sz="1200" b="1" dirty="0">
                <a:latin typeface="Arial" pitchFamily="34" charset="0"/>
                <a:ea typeface="Tahoma" pitchFamily="34" charset="0"/>
                <a:cs typeface="Arial" pitchFamily="34" charset="0"/>
              </a:rPr>
            </a:br>
            <a:r>
              <a:rPr lang="he-IL" sz="1200" b="1" dirty="0">
                <a:latin typeface="Arial" pitchFamily="34" charset="0"/>
                <a:ea typeface="Tahoma" pitchFamily="34" charset="0"/>
                <a:cs typeface="Arial" pitchFamily="34" charset="0"/>
              </a:rPr>
              <a:t> </a:t>
            </a:r>
            <a:endParaRPr lang="en-US" sz="1200" b="1" dirty="0">
              <a:latin typeface="Arial" pitchFamily="34" charset="0"/>
              <a:ea typeface="Tahoma" pitchFamily="34" charset="0"/>
              <a:cs typeface="Arial" pitchFamily="34" charset="0"/>
            </a:endParaRPr>
          </a:p>
        </p:txBody>
      </p:sp>
      <p:sp>
        <p:nvSpPr>
          <p:cNvPr id="29" name="Rounded Rectangle 6"/>
          <p:cNvSpPr/>
          <p:nvPr/>
        </p:nvSpPr>
        <p:spPr>
          <a:xfrm>
            <a:off x="3575954" y="4065750"/>
            <a:ext cx="3115448" cy="1466925"/>
          </a:xfrm>
          <a:prstGeom prst="roundRect">
            <a:avLst/>
          </a:prstGeom>
          <a:ln w="38100">
            <a:solidFill>
              <a:schemeClr val="accent1">
                <a:lumMod val="75000"/>
              </a:schemeClr>
            </a:solidFill>
          </a:ln>
        </p:spPr>
        <p:style>
          <a:lnRef idx="2">
            <a:schemeClr val="accent2"/>
          </a:lnRef>
          <a:fillRef idx="1">
            <a:schemeClr val="lt1"/>
          </a:fillRef>
          <a:effectRef idx="0">
            <a:schemeClr val="accent2"/>
          </a:effectRef>
          <a:fontRef idx="minor">
            <a:schemeClr val="dk1"/>
          </a:fontRef>
        </p:style>
        <p:txBody>
          <a:bodyPr rtlCol="1" anchor="t"/>
          <a:lstStyle/>
          <a:p>
            <a:pPr algn="l">
              <a:defRPr/>
            </a:pPr>
            <a:r>
              <a:rPr lang="en-US" sz="1200" dirty="0">
                <a:solidFill>
                  <a:prstClr val="black"/>
                </a:solidFill>
                <a:latin typeface="Arial" pitchFamily="34" charset="0"/>
                <a:ea typeface="Tahoma" pitchFamily="34" charset="0"/>
                <a:cs typeface="Arial" pitchFamily="34" charset="0"/>
              </a:rPr>
              <a:t>4. Selected Approach: </a:t>
            </a:r>
          </a:p>
          <a:p>
            <a:pPr algn="l">
              <a:defRPr/>
            </a:pPr>
            <a:endParaRPr lang="en-US" sz="1200" dirty="0">
              <a:solidFill>
                <a:prstClr val="black"/>
              </a:solidFill>
              <a:latin typeface="Arial" pitchFamily="34" charset="0"/>
              <a:ea typeface="Tahoma" pitchFamily="34" charset="0"/>
              <a:cs typeface="Arial" pitchFamily="34" charset="0"/>
            </a:endParaRPr>
          </a:p>
          <a:p>
            <a:pPr algn="l">
              <a:defRPr/>
            </a:pPr>
            <a:r>
              <a:rPr lang="en-US" sz="1200" dirty="0">
                <a:solidFill>
                  <a:prstClr val="black"/>
                </a:solidFill>
                <a:latin typeface="Arial" pitchFamily="34" charset="0"/>
                <a:ea typeface="Tahoma" pitchFamily="34" charset="0"/>
                <a:cs typeface="Arial" pitchFamily="34" charset="0"/>
              </a:rPr>
              <a:t>We implemented C++ program, that compares between the algorithms, by the  byte’s number of the compress data, </a:t>
            </a:r>
            <a:r>
              <a:rPr lang="en-US" sz="1200">
                <a:solidFill>
                  <a:prstClr val="black"/>
                </a:solidFill>
                <a:latin typeface="Arial" pitchFamily="34" charset="0"/>
                <a:ea typeface="Tahoma" pitchFamily="34" charset="0"/>
                <a:cs typeface="Arial" pitchFamily="34" charset="0"/>
              </a:rPr>
              <a:t>from the different </a:t>
            </a:r>
            <a:r>
              <a:rPr lang="en-US" sz="1200" dirty="0">
                <a:solidFill>
                  <a:prstClr val="black"/>
                </a:solidFill>
                <a:latin typeface="Arial" pitchFamily="34" charset="0"/>
                <a:ea typeface="Tahoma" pitchFamily="34" charset="0"/>
                <a:cs typeface="Arial" pitchFamily="34" charset="0"/>
              </a:rPr>
              <a:t>algorithms</a:t>
            </a:r>
            <a:endParaRPr lang="he-IL" sz="1200" dirty="0">
              <a:solidFill>
                <a:prstClr val="black"/>
              </a:solidFill>
              <a:latin typeface="Arial" pitchFamily="34" charset="0"/>
              <a:ea typeface="Tahoma" pitchFamily="34" charset="0"/>
              <a:cs typeface="Arial" pitchFamily="34" charset="0"/>
            </a:endParaRPr>
          </a:p>
        </p:txBody>
      </p:sp>
      <p:sp>
        <p:nvSpPr>
          <p:cNvPr id="36" name="Rounded Rectangle 6"/>
          <p:cNvSpPr/>
          <p:nvPr/>
        </p:nvSpPr>
        <p:spPr>
          <a:xfrm>
            <a:off x="166597" y="5746355"/>
            <a:ext cx="6524805" cy="4123403"/>
          </a:xfrm>
          <a:prstGeom prst="roundRect">
            <a:avLst/>
          </a:prstGeom>
          <a:ln w="38100"/>
        </p:spPr>
        <p:style>
          <a:lnRef idx="2">
            <a:schemeClr val="accent3"/>
          </a:lnRef>
          <a:fillRef idx="1">
            <a:schemeClr val="lt1"/>
          </a:fillRef>
          <a:effectRef idx="0">
            <a:schemeClr val="accent3"/>
          </a:effectRef>
          <a:fontRef idx="minor">
            <a:schemeClr val="dk1"/>
          </a:fontRef>
        </p:style>
        <p:txBody>
          <a:bodyPr rtlCol="1" anchor="t"/>
          <a:lstStyle/>
          <a:p>
            <a:pPr rtl="1">
              <a:defRPr/>
            </a:pPr>
            <a:r>
              <a:rPr lang="en-US" sz="1200" dirty="0">
                <a:solidFill>
                  <a:prstClr val="black"/>
                </a:solidFill>
                <a:latin typeface="Arial" pitchFamily="34" charset="0"/>
                <a:ea typeface="Tahoma" pitchFamily="34" charset="0"/>
                <a:cs typeface="Arial" pitchFamily="34" charset="0"/>
              </a:rPr>
              <a:t>5. Solution Description (Algorithms, Modulation, Patterns, Infrastructure, UI</a:t>
            </a:r>
            <a:r>
              <a:rPr lang="en-US" sz="1200">
                <a:solidFill>
                  <a:prstClr val="black"/>
                </a:solidFill>
                <a:latin typeface="Arial" pitchFamily="34" charset="0"/>
                <a:ea typeface="Tahoma" pitchFamily="34" charset="0"/>
                <a:cs typeface="Arial" pitchFamily="34" charset="0"/>
              </a:rPr>
              <a:t>,   </a:t>
            </a:r>
            <a:br>
              <a:rPr lang="en-US" sz="1200">
                <a:solidFill>
                  <a:prstClr val="black"/>
                </a:solidFill>
                <a:latin typeface="Arial" pitchFamily="34" charset="0"/>
                <a:ea typeface="Tahoma" pitchFamily="34" charset="0"/>
                <a:cs typeface="Arial" pitchFamily="34" charset="0"/>
              </a:rPr>
            </a:br>
            <a:r>
              <a:rPr lang="en-US" sz="1200">
                <a:solidFill>
                  <a:prstClr val="black"/>
                </a:solidFill>
                <a:latin typeface="Arial" pitchFamily="34" charset="0"/>
                <a:ea typeface="Tahoma" pitchFamily="34" charset="0"/>
                <a:cs typeface="Arial" pitchFamily="34" charset="0"/>
              </a:rPr>
              <a:t>     Functionality</a:t>
            </a:r>
            <a:r>
              <a:rPr lang="en-US" sz="1200" dirty="0">
                <a:solidFill>
                  <a:prstClr val="black"/>
                </a:solidFill>
                <a:latin typeface="Arial" pitchFamily="34" charset="0"/>
                <a:ea typeface="Tahoma" pitchFamily="34" charset="0"/>
                <a:cs typeface="Arial" pitchFamily="34" charset="0"/>
              </a:rPr>
              <a:t>)</a:t>
            </a:r>
            <a:endParaRPr lang="he-IL" sz="1200" dirty="0">
              <a:solidFill>
                <a:prstClr val="black"/>
              </a:solidFill>
              <a:latin typeface="Arial" pitchFamily="34" charset="0"/>
              <a:ea typeface="Tahoma" pitchFamily="34" charset="0"/>
              <a:cs typeface="Arial" pitchFamily="34" charset="0"/>
            </a:endParaRPr>
          </a:p>
        </p:txBody>
      </p:sp>
      <p:sp>
        <p:nvSpPr>
          <p:cNvPr id="13" name="TextBox 12"/>
          <p:cNvSpPr txBox="1"/>
          <p:nvPr/>
        </p:nvSpPr>
        <p:spPr>
          <a:xfrm>
            <a:off x="5556292" y="9124806"/>
            <a:ext cx="750659" cy="209609"/>
          </a:xfrm>
          <a:prstGeom prst="rect">
            <a:avLst/>
          </a:prstGeom>
          <a:solidFill>
            <a:srgbClr val="FFFFFF">
              <a:alpha val="50196"/>
            </a:srgbClr>
          </a:solidFill>
        </p:spPr>
        <p:txBody>
          <a:bodyPr wrap="square" rtlCol="1">
            <a:spAutoFit/>
          </a:bodyPr>
          <a:lstStyle/>
          <a:p>
            <a:pPr algn="ctr"/>
            <a:r>
              <a:rPr lang="en-US" sz="762" dirty="0">
                <a:latin typeface="Arial" pitchFamily="34" charset="0"/>
                <a:cs typeface="Arial" pitchFamily="34" charset="0"/>
              </a:rPr>
              <a:t>Visit Us</a:t>
            </a:r>
            <a:endParaRPr lang="he-IL" sz="762" dirty="0">
              <a:latin typeface="Arial" pitchFamily="34" charset="0"/>
              <a:cs typeface="Arial" pitchFamily="34" charset="0"/>
            </a:endParaRPr>
          </a:p>
        </p:txBody>
      </p:sp>
      <p:sp>
        <p:nvSpPr>
          <p:cNvPr id="14" name="Arrow: Left 13">
            <a:extLst>
              <a:ext uri="{FF2B5EF4-FFF2-40B4-BE49-F238E27FC236}">
                <a16:creationId xmlns:a16="http://schemas.microsoft.com/office/drawing/2014/main" id="{74739229-DA93-498A-93F3-E36AC736CA39}"/>
              </a:ext>
            </a:extLst>
          </p:cNvPr>
          <p:cNvSpPr/>
          <p:nvPr/>
        </p:nvSpPr>
        <p:spPr>
          <a:xfrm rot="10800000">
            <a:off x="3141383" y="1911601"/>
            <a:ext cx="397983" cy="24173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4882" tIns="12440" rIns="24882" bIns="12440" numCol="1" spcCol="0" rtlCol="0" fromWordArt="0" anchor="ctr" anchorCtr="0" forceAA="0" compatLnSpc="1">
            <a:prstTxWarp prst="textNoShape">
              <a:avLst/>
            </a:prstTxWarp>
            <a:noAutofit/>
          </a:bodyPr>
          <a:lstStyle/>
          <a:p>
            <a:pPr algn="r" rtl="1"/>
            <a:endParaRPr lang="en-US" sz="490"/>
          </a:p>
        </p:txBody>
      </p:sp>
      <p:sp>
        <p:nvSpPr>
          <p:cNvPr id="15" name="Arrow: Right 14">
            <a:extLst>
              <a:ext uri="{FF2B5EF4-FFF2-40B4-BE49-F238E27FC236}">
                <a16:creationId xmlns:a16="http://schemas.microsoft.com/office/drawing/2014/main" id="{B5ACDA5A-2EDD-4539-A5A7-1A7E2E4C029F}"/>
              </a:ext>
            </a:extLst>
          </p:cNvPr>
          <p:cNvSpPr/>
          <p:nvPr/>
        </p:nvSpPr>
        <p:spPr>
          <a:xfrm rot="10800000">
            <a:off x="3141382" y="3221338"/>
            <a:ext cx="397984" cy="24172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4882" tIns="12440" rIns="24882" bIns="12440" numCol="1" spcCol="0" rtlCol="0" fromWordArt="0" anchor="ctr" anchorCtr="0" forceAA="0" compatLnSpc="1">
            <a:prstTxWarp prst="textNoShape">
              <a:avLst/>
            </a:prstTxWarp>
            <a:noAutofit/>
          </a:bodyPr>
          <a:lstStyle/>
          <a:p>
            <a:pPr algn="r" rtl="1"/>
            <a:endParaRPr lang="en-US" sz="490"/>
          </a:p>
        </p:txBody>
      </p:sp>
      <p:sp>
        <p:nvSpPr>
          <p:cNvPr id="52" name="Arrow: Left 51">
            <a:extLst>
              <a:ext uri="{FF2B5EF4-FFF2-40B4-BE49-F238E27FC236}">
                <a16:creationId xmlns:a16="http://schemas.microsoft.com/office/drawing/2014/main" id="{B42B5E19-1352-4CD7-BA33-5F59FA87A388}"/>
              </a:ext>
            </a:extLst>
          </p:cNvPr>
          <p:cNvSpPr/>
          <p:nvPr/>
        </p:nvSpPr>
        <p:spPr>
          <a:xfrm rot="10800000">
            <a:off x="3126077" y="4436621"/>
            <a:ext cx="434574" cy="241728"/>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4882" tIns="12440" rIns="24882" bIns="12440" numCol="1" spcCol="0" rtlCol="0" fromWordArt="0" anchor="ctr" anchorCtr="0" forceAA="0" compatLnSpc="1">
            <a:prstTxWarp prst="textNoShape">
              <a:avLst/>
            </a:prstTxWarp>
            <a:noAutofit/>
          </a:bodyPr>
          <a:lstStyle/>
          <a:p>
            <a:pPr algn="r" rtl="1"/>
            <a:endParaRPr lang="en-US" sz="490"/>
          </a:p>
        </p:txBody>
      </p:sp>
      <p:sp>
        <p:nvSpPr>
          <p:cNvPr id="16" name="Arrow: Down 15">
            <a:extLst>
              <a:ext uri="{FF2B5EF4-FFF2-40B4-BE49-F238E27FC236}">
                <a16:creationId xmlns:a16="http://schemas.microsoft.com/office/drawing/2014/main" id="{934A1CC8-3731-4427-9E37-E524BEB70E91}"/>
              </a:ext>
            </a:extLst>
          </p:cNvPr>
          <p:cNvSpPr/>
          <p:nvPr/>
        </p:nvSpPr>
        <p:spPr>
          <a:xfrm>
            <a:off x="1701800" y="5446552"/>
            <a:ext cx="236752" cy="29981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4882" tIns="12440" rIns="24882" bIns="12440" numCol="1" spcCol="0" rtlCol="0" fromWordArt="0" anchor="ctr" anchorCtr="0" forceAA="0" compatLnSpc="1">
            <a:prstTxWarp prst="textNoShape">
              <a:avLst/>
            </a:prstTxWarp>
            <a:noAutofit/>
          </a:bodyPr>
          <a:lstStyle/>
          <a:p>
            <a:pPr algn="r" rtl="1"/>
            <a:endParaRPr lang="en-US" sz="490"/>
          </a:p>
        </p:txBody>
      </p:sp>
      <p:sp>
        <p:nvSpPr>
          <p:cNvPr id="18" name="Rounded Rectangle 6">
            <a:extLst>
              <a:ext uri="{FF2B5EF4-FFF2-40B4-BE49-F238E27FC236}">
                <a16:creationId xmlns:a16="http://schemas.microsoft.com/office/drawing/2014/main" id="{833CA314-16B2-48AE-972C-270F5704890A}"/>
              </a:ext>
            </a:extLst>
          </p:cNvPr>
          <p:cNvSpPr/>
          <p:nvPr/>
        </p:nvSpPr>
        <p:spPr>
          <a:xfrm>
            <a:off x="197204" y="1516650"/>
            <a:ext cx="2944177" cy="1105544"/>
          </a:xfrm>
          <a:prstGeom prst="roundRect">
            <a:avLst/>
          </a:prstGeom>
          <a:ln w="38100"/>
        </p:spPr>
        <p:style>
          <a:lnRef idx="2">
            <a:schemeClr val="accent5"/>
          </a:lnRef>
          <a:fillRef idx="1">
            <a:schemeClr val="lt1"/>
          </a:fillRef>
          <a:effectRef idx="0">
            <a:schemeClr val="accent5"/>
          </a:effectRef>
          <a:fontRef idx="minor">
            <a:schemeClr val="dk1"/>
          </a:fontRef>
        </p:style>
        <p:txBody>
          <a:bodyPr rtlCol="1" anchor="t"/>
          <a:lstStyle/>
          <a:p>
            <a:pPr>
              <a:buFontTx/>
              <a:buAutoNum type="arabicPeriod"/>
              <a:defRPr/>
            </a:pPr>
            <a:r>
              <a:rPr lang="en-US" sz="1600" dirty="0"/>
              <a:t>Contribution/project goal:</a:t>
            </a:r>
          </a:p>
          <a:p>
            <a:pPr>
              <a:defRPr/>
            </a:pPr>
            <a:r>
              <a:rPr lang="en-US" sz="1600" dirty="0"/>
              <a:t>      </a:t>
            </a:r>
          </a:p>
          <a:p>
            <a:pPr>
              <a:defRPr/>
            </a:pPr>
            <a:r>
              <a:rPr lang="en-US" sz="1600" dirty="0">
                <a:solidFill>
                  <a:prstClr val="black"/>
                </a:solidFill>
                <a:latin typeface="Arial" pitchFamily="34" charset="0"/>
                <a:ea typeface="Tahoma" pitchFamily="34" charset="0"/>
              </a:rPr>
              <a:t>Discover optimal algorithms of data compression</a:t>
            </a:r>
            <a:endParaRPr lang="he-IL" sz="1600" dirty="0">
              <a:solidFill>
                <a:prstClr val="black"/>
              </a:solidFill>
              <a:latin typeface="Arial" pitchFamily="34" charset="0"/>
              <a:ea typeface="Tahoma" pitchFamily="34" charset="0"/>
            </a:endParaRPr>
          </a:p>
          <a:p>
            <a:pPr>
              <a:defRPr/>
            </a:pPr>
            <a:endParaRPr lang="en-US" sz="1200" dirty="0"/>
          </a:p>
        </p:txBody>
      </p:sp>
      <p:cxnSp>
        <p:nvCxnSpPr>
          <p:cNvPr id="7" name="Straight Arrow Connector 6">
            <a:extLst>
              <a:ext uri="{FF2B5EF4-FFF2-40B4-BE49-F238E27FC236}">
                <a16:creationId xmlns:a16="http://schemas.microsoft.com/office/drawing/2014/main" id="{9C49D1D0-6211-48F5-B887-977D5BA10AE3}"/>
              </a:ext>
            </a:extLst>
          </p:cNvPr>
          <p:cNvCxnSpPr>
            <a:cxnSpLocks/>
          </p:cNvCxnSpPr>
          <p:nvPr/>
        </p:nvCxnSpPr>
        <p:spPr>
          <a:xfrm>
            <a:off x="5219312" y="9513911"/>
            <a:ext cx="43726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F3F334E-0FC7-49AB-A5E6-5E33276B81C9}"/>
              </a:ext>
            </a:extLst>
          </p:cNvPr>
          <p:cNvSpPr txBox="1"/>
          <p:nvPr/>
        </p:nvSpPr>
        <p:spPr>
          <a:xfrm>
            <a:off x="2680469" y="9383106"/>
            <a:ext cx="2515432" cy="261610"/>
          </a:xfrm>
          <a:prstGeom prst="rect">
            <a:avLst/>
          </a:prstGeom>
          <a:noFill/>
        </p:spPr>
        <p:txBody>
          <a:bodyPr wrap="none" rtlCol="0">
            <a:spAutoFit/>
          </a:bodyPr>
          <a:lstStyle/>
          <a:p>
            <a:pPr algn="r" rtl="1"/>
            <a:r>
              <a:rPr lang="en-US" sz="1100" dirty="0"/>
              <a:t>Scan </a:t>
            </a:r>
            <a:r>
              <a:rPr lang="en-US" sz="1100" dirty="0" err="1"/>
              <a:t>QRCode</a:t>
            </a:r>
            <a:r>
              <a:rPr lang="en-US" sz="1100" dirty="0"/>
              <a:t> for full Instructions(</a:t>
            </a:r>
            <a:r>
              <a:rPr lang="en-US" sz="1100" dirty="0" err="1"/>
              <a:t>github</a:t>
            </a:r>
            <a:r>
              <a:rPr lang="en-US" sz="1100"/>
              <a:t>)</a:t>
            </a:r>
            <a:endParaRPr lang="en-US" sz="1100" dirty="0"/>
          </a:p>
        </p:txBody>
      </p:sp>
      <p:pic>
        <p:nvPicPr>
          <p:cNvPr id="11" name="Picture 10">
            <a:extLst>
              <a:ext uri="{FF2B5EF4-FFF2-40B4-BE49-F238E27FC236}">
                <a16:creationId xmlns:a16="http://schemas.microsoft.com/office/drawing/2014/main" id="{D64C4E1C-6FAC-4FBD-8F18-F52604BE0CA8}"/>
              </a:ext>
            </a:extLst>
          </p:cNvPr>
          <p:cNvPicPr>
            <a:picLocks noChangeAspect="1"/>
          </p:cNvPicPr>
          <p:nvPr/>
        </p:nvPicPr>
        <p:blipFill>
          <a:blip r:embed="rId2"/>
          <a:stretch>
            <a:fillRect/>
          </a:stretch>
        </p:blipFill>
        <p:spPr>
          <a:xfrm>
            <a:off x="5703396" y="9279979"/>
            <a:ext cx="456453" cy="467864"/>
          </a:xfrm>
          <a:prstGeom prst="rect">
            <a:avLst/>
          </a:prstGeom>
        </p:spPr>
      </p:pic>
      <p:sp>
        <p:nvSpPr>
          <p:cNvPr id="2" name="Rectangle 1">
            <a:extLst>
              <a:ext uri="{FF2B5EF4-FFF2-40B4-BE49-F238E27FC236}">
                <a16:creationId xmlns:a16="http://schemas.microsoft.com/office/drawing/2014/main" id="{96CFC95C-2546-AA42-06DB-F6A83ED431C2}"/>
              </a:ext>
            </a:extLst>
          </p:cNvPr>
          <p:cNvSpPr/>
          <p:nvPr/>
        </p:nvSpPr>
        <p:spPr>
          <a:xfrm>
            <a:off x="6114757" y="190326"/>
            <a:ext cx="623538" cy="55588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6000" dirty="0"/>
              <a:t>6</a:t>
            </a:r>
          </a:p>
        </p:txBody>
      </p:sp>
      <p:sp>
        <p:nvSpPr>
          <p:cNvPr id="5" name="Rectangle 4">
            <a:extLst>
              <a:ext uri="{FF2B5EF4-FFF2-40B4-BE49-F238E27FC236}">
                <a16:creationId xmlns:a16="http://schemas.microsoft.com/office/drawing/2014/main" id="{01EE06C4-1B62-4427-98E9-3F44949EBC0B}"/>
              </a:ext>
            </a:extLst>
          </p:cNvPr>
          <p:cNvSpPr/>
          <p:nvPr/>
        </p:nvSpPr>
        <p:spPr>
          <a:xfrm>
            <a:off x="-1717547" y="-4645382"/>
            <a:ext cx="62858" cy="15958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4882" tIns="12440" rIns="24882" bIns="12440" numCol="1" spcCol="0" rtlCol="0" fromWordArt="0" anchor="ctr" anchorCtr="0" forceAA="0" compatLnSpc="1">
            <a:prstTxWarp prst="textNoShape">
              <a:avLst/>
            </a:prstTxWarp>
            <a:noAutofit/>
          </a:bodyPr>
          <a:lstStyle/>
          <a:p>
            <a:pPr algn="ctr"/>
            <a:endParaRPr lang="en-US" sz="2800" dirty="0"/>
          </a:p>
        </p:txBody>
      </p:sp>
      <p:pic>
        <p:nvPicPr>
          <p:cNvPr id="1026" name="Picture 2" descr="Image title">
            <a:extLst>
              <a:ext uri="{FF2B5EF4-FFF2-40B4-BE49-F238E27FC236}">
                <a16:creationId xmlns:a16="http://schemas.microsoft.com/office/drawing/2014/main" id="{4A87B5F7-01E2-5E8F-9C0B-6B1CCD69BB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705" y="32925"/>
            <a:ext cx="1119472" cy="935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168442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242</TotalTime>
  <Words>200</Words>
  <Application>Microsoft Office PowerPoint</Application>
  <PresentationFormat>מותאם אישית</PresentationFormat>
  <Paragraphs>24</Paragraphs>
  <Slides>1</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vt:i4>
      </vt:variant>
    </vt:vector>
  </HeadingPairs>
  <TitlesOfParts>
    <vt:vector size="5" baseType="lpstr">
      <vt:lpstr>Arial</vt:lpstr>
      <vt:lpstr>Calibri</vt:lpstr>
      <vt:lpstr>Calibri Light</vt:lpstr>
      <vt:lpstr>Office Theme</vt:lpstr>
      <vt:lpstr>מצגת של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yogi zor</dc:creator>
  <cp:lastModifiedBy>dvir nm</cp:lastModifiedBy>
  <cp:revision>13</cp:revision>
  <dcterms:created xsi:type="dcterms:W3CDTF">2020-05-21T09:41:20Z</dcterms:created>
  <dcterms:modified xsi:type="dcterms:W3CDTF">2022-05-20T08:19:31Z</dcterms:modified>
</cp:coreProperties>
</file>